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6BB"/>
    <a:srgbClr val="144E9D"/>
    <a:srgbClr val="0A34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>
        <p:scale>
          <a:sx n="75" d="100"/>
          <a:sy n="75" d="100"/>
        </p:scale>
        <p:origin x="-835" y="-36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582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08BED-45E0-4146-9AA3-E286E1EBEF6C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28FBB-DDA8-4C6B-9714-1F3B95845B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100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CFEBA-0915-4D5C-96D1-FD7D41EA84DF}" type="datetimeFigureOut">
              <a:rPr lang="ru-RU" smtClean="0"/>
              <a:t>15.06.2025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09F5D-2051-4CEA-8A72-1E6C2BA3EB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6507" y="2877025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96507" y="5356700"/>
            <a:ext cx="9144000" cy="106057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smtClean="0"/>
              <a:t>Образец подзаголовка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359" y="49428"/>
            <a:ext cx="4219065" cy="676326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07" y="616580"/>
            <a:ext cx="3359616" cy="85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09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0"/>
            <a:ext cx="12192000" cy="856735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76103" y="42516"/>
            <a:ext cx="6559379" cy="771697"/>
          </a:xfrm>
        </p:spPr>
        <p:txBody>
          <a:bodyPr>
            <a:normAutofit/>
          </a:bodyPr>
          <a:lstStyle>
            <a:lvl1pPr algn="r">
              <a:defRPr sz="3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6532604"/>
            <a:ext cx="12192000" cy="333633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07" y="153315"/>
            <a:ext cx="2160994" cy="550097"/>
          </a:xfrm>
          <a:prstGeom prst="rect">
            <a:avLst/>
          </a:prstGeom>
        </p:spPr>
      </p:pic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7" y="1145224"/>
            <a:ext cx="10892609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2042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11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19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01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221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88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04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142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48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648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BC057-7B4A-4573-B7D6-ADBED0D12D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08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685800"/>
            <a:ext cx="2606040" cy="30017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530352"/>
            <a:ext cx="3246120" cy="827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1600200"/>
            <a:ext cx="11503152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</a:rPr>
              <a:t>ДИПЛОМНАЯ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057400"/>
            <a:ext cx="11503152" cy="1554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Times New Roman"/>
              </a:rPr>
              <a:t>Моделирование энергетического спектра</a:t>
            </a:r>
          </a:p>
          <a:p>
            <a:pPr algn="ctr"/>
            <a:r>
              <a:rPr sz="2800" b="1">
                <a:solidFill>
                  <a:srgbClr val="000000"/>
                </a:solidFill>
                <a:latin typeface="Times New Roman"/>
              </a:rPr>
              <a:t>и волновых функций в квантовых точках</a:t>
            </a:r>
          </a:p>
          <a:p>
            <a:pPr algn="ctr"/>
            <a:r>
              <a:rPr sz="2800" b="1">
                <a:solidFill>
                  <a:srgbClr val="000000"/>
                </a:solidFill>
                <a:latin typeface="Times New Roman"/>
              </a:rPr>
              <a:t>сложной геометрии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7315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Модельные суперэллиптические квантовые точки</a:t>
            </a:r>
          </a:p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на квадратной решётке метода сильной связи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617720"/>
            <a:ext cx="9601200" cy="1600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100" b="0">
                <a:solidFill>
                  <a:srgbClr val="000000"/>
                </a:solidFill>
                <a:latin typeface="Times New Roman"/>
              </a:rPr>
              <a:t>Докладчик:</a:t>
            </a:r>
          </a:p>
          <a:p>
            <a:pPr algn="l"/>
            <a:r>
              <a:rPr sz="2100" b="0">
                <a:solidFill>
                  <a:srgbClr val="000000"/>
                </a:solidFill>
                <a:latin typeface="Times New Roman"/>
              </a:rPr>
              <a:t>Альвинский Александр Андреевич, студент 5 курса</a:t>
            </a:r>
          </a:p>
          <a:p>
            <a:pPr algn="l"/>
            <a:r>
              <a:rPr sz="21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2100" b="0">
                <a:solidFill>
                  <a:srgbClr val="000000"/>
                </a:solidFill>
                <a:latin typeface="Times New Roman"/>
              </a:rPr>
              <a:t>Научный руководитель:</a:t>
            </a:r>
          </a:p>
          <a:p>
            <a:pPr algn="l"/>
            <a:r>
              <a:rPr sz="2100" b="0">
                <a:solidFill>
                  <a:srgbClr val="000000"/>
                </a:solidFill>
                <a:latin typeface="Times New Roman"/>
              </a:rPr>
              <a:t>А. В. Ларькин, канд. физ.-мат. наук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Цель и задачи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105156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43584"/>
            <a:ext cx="1078992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2060"/>
                </a:solidFill>
                <a:latin typeface="Times New Roman"/>
              </a:rPr>
              <a:t>Форма и размер модельной квантовой точки управляют</a:t>
            </a:r>
          </a:p>
          <a:p>
            <a:pPr algn="ctr"/>
            <a:r>
              <a:rPr sz="2400" b="1">
                <a:solidFill>
                  <a:srgbClr val="002060"/>
                </a:solidFill>
                <a:latin typeface="Times New Roman"/>
              </a:rPr>
              <a:t>низкоэнергетическим спектром за счёт квантового ограничения.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4983480" cy="34747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02060"/>
                </a:solidFill>
                <a:latin typeface="Times New Roman"/>
              </a:rPr>
              <a:t>Цель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52928"/>
            <a:ext cx="5074920" cy="27432"/>
          </a:xfrm>
          <a:prstGeom prst="rect">
            <a:avLst/>
          </a:prstGeom>
          <a:solidFill>
            <a:srgbClr val="002060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5166360" cy="1508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Times New Roman"/>
              </a:rPr>
              <a:t>Смоделировать энергетический спектр и волновые функции квантовых точек сложной геометрии в рамках метода сильной связи.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514600"/>
            <a:ext cx="5212080" cy="34747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02060"/>
                </a:solidFill>
                <a:latin typeface="Times New Roman"/>
              </a:rPr>
              <a:t>Задачи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852928"/>
            <a:ext cx="5212080" cy="27432"/>
          </a:xfrm>
          <a:prstGeom prst="rect">
            <a:avLst/>
          </a:prstGeom>
          <a:solidFill>
            <a:srgbClr val="002060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3035808"/>
            <a:ext cx="5440680" cy="1508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построить модель сильной связи;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проверить физическую согласованность расчётов;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сравнить Ridge и MLP при LOAO/LOARO.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Сначала физическая проверка, затем суррогатная аппроксимация.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Актуальность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486400" cy="23774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Квантовое ограничение делает спектр конечной наноструктуры чувствительным к размеру и форме.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Модельная решётка позволяет отделить влияние геометрии от материал-специфических параметров.</a:t>
            </a:r>
          </a:p>
          <a:p>
            <a:pPr>
              <a:spcAft>
                <a:spcPts val="500"/>
              </a:spcAft>
              <a:defRPr sz="2200">
                <a:solidFill>
                  <a:srgbClr val="000000"/>
                </a:solidFill>
                <a:latin typeface="Times New Roman"/>
              </a:defRPr>
            </a:pPr>
            <a:r>
              <a:t>Суррогатная модель нужна только как быстрая аппроксимация результатов прямого расчёта.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097280"/>
            <a:ext cx="5440680" cy="4297680"/>
          </a:xfrm>
          <a:prstGeom prst="rect">
            <a:avLst/>
          </a:prstGeom>
          <a:solidFill>
            <a:srgbClr val="F3F6FA"/>
          </a:solidFill>
          <a:ln w="10160"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49834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02060"/>
                </a:solidFill>
                <a:latin typeface="Times New Roman"/>
              </a:rPr>
              <a:t>Физическая цепочка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874519"/>
            <a:ext cx="43434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947672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Times New Roman"/>
              </a:rPr>
              <a:t>размер и форма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304287"/>
            <a:ext cx="365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002060"/>
                </a:solidFill>
                <a:latin typeface="Times New Roman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2587752"/>
            <a:ext cx="43434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660904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Times New Roman"/>
              </a:rPr>
              <a:t>квантовое ограничение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3017520"/>
            <a:ext cx="365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002060"/>
                </a:solidFill>
                <a:latin typeface="Times New Roman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12280" y="3300984"/>
            <a:ext cx="43434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374136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00000"/>
                </a:solidFill>
                <a:latin typeface="Times New Roman"/>
              </a:rPr>
              <a:t>низкие уровни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3730752"/>
            <a:ext cx="365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002060"/>
                </a:solidFill>
                <a:latin typeface="Times New Roman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4014215"/>
            <a:ext cx="43434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087368"/>
            <a:ext cx="41605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Times New Roman"/>
              </a:rPr>
              <a:t>суррогатная проверка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Суррогат не заменяет прямой квантовый расчёт.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Модель метода сильной связи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4800600" cy="23317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H = Σ εᵢ |i⟩⟨i| + Σ tᵢⱼ (|i⟩⟨j| + |j⟩⟨i|)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εᵢ = 0,    tᵢⱼ = −1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Eₖᵢₙ = E₀ + 4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4251960" cy="105156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3977639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Конечная область решётки</a:t>
            </a:r>
          </a:p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рассматривается как модельная</a:t>
            </a:r>
          </a:p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квантовая точка.</a:t>
            </a:r>
          </a:p>
        </p:txBody>
      </p:sp>
      <p:pic>
        <p:nvPicPr>
          <p:cNvPr id="7" name="Picture 6" descr="model_lattice_superelli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43000"/>
            <a:ext cx="589788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0" y="5596128"/>
            <a:ext cx="58064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Рисунок 1 – дискретная область на квадратной решётке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Спектр определяется размером, отношением сторон и формой границы.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Расчётная выборка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4754880" cy="452628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416052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140 геометрий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40280"/>
          <a:ext cx="4114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параметр</a:t>
                      </a:r>
                    </a:p>
                  </a:txBody>
                  <a:tcPr marL="36576" marR="36576" marT="18288" marB="18288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</a:rPr>
                        <a:t>значения</a:t>
                      </a:r>
                    </a:p>
                  </a:txBody>
                  <a:tcPr marL="36576" marR="36576" marT="18288" marB="18288">
                    <a:solidFill>
                      <a:srgbClr val="E9EF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1.2; 2.0; 3.0; 4.0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24; 27; 30; 33; 36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r_AR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0.67; 0.72; … ; 1.0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a r_AR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892040"/>
            <a:ext cx="4206240" cy="4572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  <a:latin typeface="Times New Roman"/>
              </a:rPr>
              <a:t>n рассматривается как фиксированный дискретный класс,</a:t>
            </a:r>
          </a:p>
          <a:p>
            <a:pPr algn="ctr"/>
            <a:r>
              <a:rPr sz="1700" b="0">
                <a:solidFill>
                  <a:srgbClr val="000000"/>
                </a:solidFill>
                <a:latin typeface="Times New Roman"/>
              </a:rPr>
              <a:t>а не как непрерывный вход модели.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417320"/>
            <a:ext cx="5760720" cy="5486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002060"/>
                </a:solidFill>
                <a:latin typeface="Times New Roman"/>
              </a:rPr>
              <a:t>|x/a|ⁿ + |y/b|ⁿ ≤ 1,      b = a r_AR</a:t>
            </a:r>
          </a:p>
        </p:txBody>
      </p:sp>
      <p:pic>
        <p:nvPicPr>
          <p:cNvPr id="9" name="Picture 8" descr="nsites_area_ratio_by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57400"/>
            <a:ext cx="566928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23560" y="5440680"/>
            <a:ext cx="56692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Рисунок 2 – контроль дискретной площади области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Выборка покрывает проверенный диапазон параметров, но не задаёт универсальную модель формы.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Энергетическая шкала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257800" cy="31546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E(kₓ,kᵧ) = −2 cos kₓ − 2 cos kᵧ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E_min = −4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E(kₓ,kᵧ)+4 ≈ kₓ²+kᵧ²</a:t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E_kin = E₀ + 4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617720"/>
            <a:ext cx="5212080" cy="9601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низкие уровни отсчитываются от дна зоны;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при увеличении размера ослабляется квантовое ограничение;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это мотивирует масштаб 1/a².</a:t>
            </a:r>
          </a:p>
        </p:txBody>
      </p:sp>
      <p:pic>
        <p:nvPicPr>
          <p:cNvPr id="6" name="Picture 5" descr="e0_kin_a2_scaling_by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15568"/>
            <a:ext cx="566928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486400"/>
            <a:ext cx="55778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Рисунок 3 – проверка масштаба (E₀+4)a²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Проверяется не полный континуальный предел, а согласованность низкоэнергетического масштаба.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Физические проверки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pic>
        <p:nvPicPr>
          <p:cNvPr id="4" name="Picture 3" descr="ar_scaling_relative_de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62356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23560"/>
            <a:ext cx="56235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Рисунок 4 – отклонение (E₀+4)a² при фиксированных n и r_AR</a:t>
            </a:r>
          </a:p>
        </p:txBody>
      </p:sp>
      <p:pic>
        <p:nvPicPr>
          <p:cNvPr id="6" name="Picture 5" descr="circle_bessel_e0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560"/>
            <a:ext cx="516636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4114800"/>
            <a:ext cx="51663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Рисунок 5 – круговая проверка Бесселя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4617720"/>
            <a:ext cx="5349240" cy="11430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круговой случай: ошибка ≈ 2.03%;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максимальное отклонение по фиксированной форме ≈ 2.12%;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dE₂ оставлен только как диагностическая величина.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Физические проверки поддерживают выбранную область параметров.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Спектральные характеристики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3429000" cy="416052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88036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002060"/>
                </a:solidFill>
                <a:latin typeface="Times New Roman"/>
              </a:rPr>
              <a:t>E₀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971800" cy="9144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нижний уровень</a:t>
            </a:r>
          </a:p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квантового ограничения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429000" cy="416052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08760"/>
            <a:ext cx="297180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002060"/>
                </a:solidFill>
                <a:latin typeface="Times New Roman"/>
              </a:rPr>
              <a:t>dE₁ = E₁ − E₀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971800" cy="9144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зазор до первого</a:t>
            </a:r>
          </a:p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возбуждённого состояния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188720"/>
            <a:ext cx="3429000" cy="416052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508760"/>
            <a:ext cx="288036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002060"/>
                </a:solidFill>
                <a:latin typeface="Times New Roman"/>
              </a:rPr>
              <a:t>dE₂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2971800" cy="11887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диагностика</a:t>
            </a:r>
          </a:p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вырождения и порядка</a:t>
            </a:r>
          </a:p>
          <a:p>
            <a:pPr algn="ctr"/>
            <a:r>
              <a:rPr sz="2200" b="0">
                <a:solidFill>
                  <a:srgbClr val="000000"/>
                </a:solidFill>
                <a:latin typeface="Times New Roman"/>
              </a:rPr>
              <a:t>уровней</a:t>
            </a:r>
          </a:p>
        </p:txBody>
      </p:sp>
      <p:pic>
        <p:nvPicPr>
          <p:cNvPr id="13" name="Picture 12" descr="de2_near_degeneracy_n2_a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749039"/>
            <a:ext cx="2423160" cy="1188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Основные целевые величины: E₀ и dE₁; dE₂ не используется как главная цель регрессии.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Суррогатная аппроксимация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5349240" cy="123444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49834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Times New Roman"/>
              </a:rPr>
              <a:t>Признаки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4983480" cy="34747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0">
                <a:solidFill>
                  <a:srgbClr val="000000"/>
                </a:solidFill>
                <a:latin typeface="Times New Roman"/>
              </a:rPr>
              <a:t>[ 1/a²,   1/(a² r_AR),   r_AR ]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88920"/>
            <a:ext cx="242316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20574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2060"/>
                </a:solidFill>
                <a:latin typeface="Times New Roman"/>
              </a:rPr>
              <a:t>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057400" cy="5486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основная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интерпретируемая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модель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788920"/>
            <a:ext cx="242316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971800"/>
            <a:ext cx="20574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02060"/>
                </a:solidFill>
                <a:latin typeface="Times New Roman"/>
              </a:rPr>
              <a:t>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83280"/>
            <a:ext cx="2057400" cy="5486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малая контрольная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нелинейная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5440680" cy="10515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суррогат обучается по расчётным спектрам;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Kwant остаётся эталонным расчётом;</a:t>
            </a:r>
          </a:p>
          <a:p>
            <a:pPr>
              <a:spcAft>
                <a:spcPts val="500"/>
              </a:spcAft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коэффициенты Ridge не трактуются как отдельные физические константы.</a:t>
            </a:r>
          </a:p>
        </p:txBody>
      </p:sp>
      <p:pic>
        <p:nvPicPr>
          <p:cNvPr id="14" name="Picture 13" descr="loao_loaro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97280"/>
            <a:ext cx="5532120" cy="4251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5440680"/>
            <a:ext cx="55321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Рисунок 6 – структурированные схемы проверки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Случайное разбиение не использовалось из-за регулярной сетки параметров.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Сравнение Ridge и MLP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pic>
        <p:nvPicPr>
          <p:cNvPr id="4" name="Picture 3" descr="mlp_ablation_improvement_by_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70408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59552"/>
            <a:ext cx="70408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Рисунок 7 – относительное улучшение MLP по сравнению с 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143000"/>
            <a:ext cx="3749039" cy="448056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417320"/>
            <a:ext cx="32918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02060"/>
                </a:solidFill>
                <a:latin typeface="Times New Roman"/>
              </a:rPr>
              <a:t>Итог критерия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965960"/>
            <a:ext cx="3246120" cy="1874519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MLP + физические признаки: 10/16;</a:t>
            </a:r>
          </a:p>
          <a:p>
            <a:pPr>
              <a:spcAft>
                <a:spcPts val="5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LOAO: 3/8;</a:t>
            </a:r>
          </a:p>
          <a:p>
            <a:pPr>
              <a:spcAft>
                <a:spcPts val="5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LOARO: 7/8;</a:t>
            </a:r>
          </a:p>
          <a:p>
            <a:pPr>
              <a:spcAft>
                <a:spcPts val="5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заданный критерий не выполнен.</a:t>
            </a:r>
          </a:p>
        </p:txBody>
      </p:sp>
      <p:pic>
        <p:nvPicPr>
          <p:cNvPr id="9" name="Picture 8" descr="mlp_success_summary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041648"/>
            <a:ext cx="3200400" cy="1325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MLP улучшает часть ячеек, но не даёт устойчивого преимущества.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Физический масштаб ошибок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55778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модель</a:t>
                      </a:r>
                    </a:p>
                  </a:txBody>
                  <a:tcPr marL="36576" marR="36576" marT="18288" marB="18288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E₀ от E_kin</a:t>
                      </a:r>
                    </a:p>
                  </a:txBody>
                  <a:tcPr marL="36576" marR="36576" marT="18288" marB="18288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dE₁ от dE₁</a:t>
                      </a:r>
                    </a:p>
                  </a:txBody>
                  <a:tcPr marL="36576" marR="36576" marT="18288" marB="18288">
                    <a:solidFill>
                      <a:srgbClr val="E9EF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Ridge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2.01–2.60%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0.78–1.15%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MLP + физ. признаки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0.51–2.06%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</a:rPr>
                        <a:t>0.49–3.31%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246120"/>
            <a:ext cx="5257800" cy="1600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ошибки MAE заданы в единицах |t|;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для E₀ масштабом служит E_kin = E₀ + 4, а не |E₀|;</a:t>
            </a:r>
          </a:p>
          <a:p>
            <a:pPr>
              <a:spcAft>
                <a:spcPts val="5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для dE₁ ошибка нормируется на характерный зазор.</a:t>
            </a:r>
          </a:p>
        </p:txBody>
      </p:sp>
      <p:pic>
        <p:nvPicPr>
          <p:cNvPr id="6" name="Picture 5" descr="mlp_ablation_ridge_vs_mlp_physics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43000"/>
            <a:ext cx="53492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5532120"/>
            <a:ext cx="5349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Рисунок 8 – MAE Ridge и MLP с физическими признаками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Абсолютные ошибки порядка 10⁻⁴ |t| имеют понятный физический масштаб.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495" y="41148"/>
            <a:ext cx="10835640" cy="7132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Times New Roman"/>
              </a:rPr>
              <a:t>Диагностика остатков 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34902" y="0"/>
            <a:ext cx="856792" cy="8567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pic>
        <p:nvPicPr>
          <p:cNvPr id="4" name="Picture 3" descr="ridge_residual_dominance_by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589788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486400"/>
            <a:ext cx="58978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Рисунок 9 – доминирование диагностик по классам 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143000"/>
            <a:ext cx="4800600" cy="4434840"/>
          </a:xfrm>
          <a:prstGeom prst="rect">
            <a:avLst/>
          </a:prstGeom>
          <a:solidFill>
            <a:srgbClr val="F3F6FA"/>
          </a:solidFill>
          <a:ln w="1397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417320"/>
            <a:ext cx="42519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02060"/>
                </a:solidFill>
                <a:latin typeface="Times New Roman"/>
              </a:rPr>
              <a:t>Основные выводы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057400"/>
            <a:ext cx="4297680" cy="21488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глобальная гипотеза об остатках не поддержана;</a:t>
            </a:r>
          </a:p>
          <a:p>
            <a:pPr>
              <a:spcAft>
                <a:spcPts val="5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диагностический сигнал найден только для n = 1.2: ρ ≈ −0.416, p ≈ 0.013;</a:t>
            </a:r>
          </a:p>
          <a:p>
            <a:pPr>
              <a:spcAft>
                <a:spcPts val="500"/>
              </a:spcAft>
              <a:defRPr sz="1900">
                <a:solidFill>
                  <a:srgbClr val="000000"/>
                </a:solidFill>
                <a:latin typeface="Times New Roman"/>
              </a:defRPr>
            </a:pPr>
            <a:r>
              <a:t>для n ≥ 2 простые диагностики границы не объясняют остатки систематически.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663440"/>
            <a:ext cx="4297680" cy="5943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  <a:latin typeface="Times New Roman"/>
              </a:rPr>
              <a:t>Ограничения: только заданная сетка параметров; без непрерывной модели по n; без DFT/OpenMX-калибровки.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199632"/>
            <a:ext cx="11521440" cy="475488"/>
          </a:xfrm>
          <a:prstGeom prst="rect">
            <a:avLst/>
          </a:prstGeom>
          <a:solidFill>
            <a:srgbClr val="F3F6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Times New Roman"/>
              </a:rPr>
              <a:t>Прямой расчёт Kwant остаётся эталоном; суррогат служит контролируемой аппроксимацией.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Words>1894</Words>
  <Application>Microsoft Office PowerPoint</Application>
  <PresentationFormat>Произвольный</PresentationFormat>
  <Paragraphs>228</Paragraphs>
  <Slides>17</Slides>
  <Notes>15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ДИПЛОМНАЯ РАБОТА  ФОРМАЛИЗМ ПСЕВДОПОТЕНЦИАЛЬНОГО ПРИБЛИЖЕНИЯ ОТКРЫТОГО ОСТОВА ДЛЯ ИССЛЕДОВАНИЯ СИЛЬНОКОРЕЛЛИРОВАННЫX СОСТОЯНИЙ В ОРТОАЛЮМИНАТЕ НЕОДИМА</vt:lpstr>
      <vt:lpstr>Цели работы</vt:lpstr>
      <vt:lpstr>Актуальность работы</vt:lpstr>
      <vt:lpstr>Теория</vt:lpstr>
      <vt:lpstr>Теория</vt:lpstr>
      <vt:lpstr>Метод исследования</vt:lpstr>
      <vt:lpstr>Метод исследования</vt:lpstr>
      <vt:lpstr>Результаты</vt:lpstr>
      <vt:lpstr>Результаты</vt:lpstr>
      <vt:lpstr>Результаты</vt:lpstr>
      <vt:lpstr>Результаты</vt:lpstr>
      <vt:lpstr>Результаты</vt:lpstr>
      <vt:lpstr>Результаты</vt:lpstr>
      <vt:lpstr>Заключение</vt:lpstr>
      <vt:lpstr>Апробация работы</vt:lpstr>
      <vt:lpstr>Апробация работы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Алексей</cp:lastModifiedBy>
  <cp:revision>71</cp:revision>
  <dcterms:created xsi:type="dcterms:W3CDTF">2019-01-28T06:34:39Z</dcterms:created>
  <dcterms:modified xsi:type="dcterms:W3CDTF">2025-06-15T18:08:24Z</dcterms:modified>
</cp:coreProperties>
</file>