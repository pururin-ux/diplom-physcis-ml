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7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6BB"/>
    <a:srgbClr val="144E9D"/>
    <a:srgbClr val="0A34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-835" y="-365"/>
      </p:cViewPr>
      <p:guideLst>
        <p:guide orient="horz" pos="2223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58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ustomXml" Target="../customXml/item1.xml"/><Relationship Id="rId14" Type="http://schemas.openxmlformats.org/officeDocument/2006/relationships/customXmlProps" Target="../customXml/itemProps7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08BED-45E0-4146-9AA3-E286E1EBEF6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28FBB-DDA8-4C6B-9714-1F3B95845B7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CFEBA-0915-4D5C-96D1-FD7D41EA84DF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09F5D-2051-4CEA-8A72-1E6C2BA3EB0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6507" y="287702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6507" y="5356700"/>
            <a:ext cx="9144000" cy="106057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59" y="49428"/>
            <a:ext cx="4219065" cy="676326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07" y="616580"/>
            <a:ext cx="3359616" cy="855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0"/>
            <a:ext cx="12192000" cy="856735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76103" y="42516"/>
            <a:ext cx="6559379" cy="771697"/>
          </a:xfrm>
        </p:spPr>
        <p:txBody>
          <a:bodyPr>
            <a:normAutofit/>
          </a:bodyPr>
          <a:lstStyle>
            <a:lvl1pPr algn="r">
              <a:defRPr sz="3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6532604"/>
            <a:ext cx="12192000" cy="333633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07" y="153315"/>
            <a:ext cx="2160994" cy="550097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7" y="1145224"/>
            <a:ext cx="10892609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Текст</a:t>
            </a:r>
            <a:endParaRPr lang="ru-RU" dirty="0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BC057-7B4A-4573-B7D6-ADBED0D12DEA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9" Type="http://schemas.openxmlformats.org/officeDocument/2006/relationships/slideLayout" Target="../slideLayouts/slideLayout7.xml"/><Relationship Id="rId58" Type="http://schemas.openxmlformats.org/officeDocument/2006/relationships/image" Target="../media/image16.png"/><Relationship Id="rId57" Type="http://schemas.openxmlformats.org/officeDocument/2006/relationships/tags" Target="../tags/tag61.xml"/><Relationship Id="rId56" Type="http://schemas.openxmlformats.org/officeDocument/2006/relationships/tags" Target="../tags/tag60.xml"/><Relationship Id="rId55" Type="http://schemas.openxmlformats.org/officeDocument/2006/relationships/tags" Target="../tags/tag59.xml"/><Relationship Id="rId54" Type="http://schemas.openxmlformats.org/officeDocument/2006/relationships/tags" Target="../tags/tag58.xml"/><Relationship Id="rId53" Type="http://schemas.openxmlformats.org/officeDocument/2006/relationships/tags" Target="../tags/tag57.xml"/><Relationship Id="rId52" Type="http://schemas.openxmlformats.org/officeDocument/2006/relationships/tags" Target="../tags/tag56.xml"/><Relationship Id="rId51" Type="http://schemas.openxmlformats.org/officeDocument/2006/relationships/tags" Target="../tags/tag55.xml"/><Relationship Id="rId50" Type="http://schemas.openxmlformats.org/officeDocument/2006/relationships/tags" Target="../tags/tag54.xml"/><Relationship Id="rId5" Type="http://schemas.openxmlformats.org/officeDocument/2006/relationships/tags" Target="../tags/tag9.xml"/><Relationship Id="rId49" Type="http://schemas.openxmlformats.org/officeDocument/2006/relationships/tags" Target="../tags/tag53.xml"/><Relationship Id="rId48" Type="http://schemas.openxmlformats.org/officeDocument/2006/relationships/tags" Target="../tags/tag52.xml"/><Relationship Id="rId47" Type="http://schemas.openxmlformats.org/officeDocument/2006/relationships/tags" Target="../tags/tag51.xml"/><Relationship Id="rId46" Type="http://schemas.openxmlformats.org/officeDocument/2006/relationships/tags" Target="../tags/tag50.xml"/><Relationship Id="rId45" Type="http://schemas.openxmlformats.org/officeDocument/2006/relationships/tags" Target="../tags/tag49.xml"/><Relationship Id="rId44" Type="http://schemas.openxmlformats.org/officeDocument/2006/relationships/tags" Target="../tags/tag48.xml"/><Relationship Id="rId43" Type="http://schemas.openxmlformats.org/officeDocument/2006/relationships/tags" Target="../tags/tag47.xml"/><Relationship Id="rId42" Type="http://schemas.openxmlformats.org/officeDocument/2006/relationships/tags" Target="../tags/tag46.xml"/><Relationship Id="rId41" Type="http://schemas.openxmlformats.org/officeDocument/2006/relationships/tags" Target="../tags/tag45.xml"/><Relationship Id="rId40" Type="http://schemas.openxmlformats.org/officeDocument/2006/relationships/tags" Target="../tags/tag44.xml"/><Relationship Id="rId4" Type="http://schemas.openxmlformats.org/officeDocument/2006/relationships/tags" Target="../tags/tag8.xml"/><Relationship Id="rId39" Type="http://schemas.openxmlformats.org/officeDocument/2006/relationships/tags" Target="../tags/tag43.xml"/><Relationship Id="rId38" Type="http://schemas.openxmlformats.org/officeDocument/2006/relationships/tags" Target="../tags/tag42.xml"/><Relationship Id="rId37" Type="http://schemas.openxmlformats.org/officeDocument/2006/relationships/tags" Target="../tags/tag41.xml"/><Relationship Id="rId36" Type="http://schemas.openxmlformats.org/officeDocument/2006/relationships/tags" Target="../tags/tag40.xml"/><Relationship Id="rId35" Type="http://schemas.openxmlformats.org/officeDocument/2006/relationships/tags" Target="../tags/tag39.xml"/><Relationship Id="rId34" Type="http://schemas.openxmlformats.org/officeDocument/2006/relationships/tags" Target="../tags/tag38.xml"/><Relationship Id="rId33" Type="http://schemas.openxmlformats.org/officeDocument/2006/relationships/tags" Target="../tags/tag37.xml"/><Relationship Id="rId32" Type="http://schemas.openxmlformats.org/officeDocument/2006/relationships/tags" Target="../tags/tag36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7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image" Target="../media/image15.png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image" Target="../media/image17.png"/><Relationship Id="rId10" Type="http://schemas.openxmlformats.org/officeDocument/2006/relationships/tags" Target="../tags/tag70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698480" cy="34747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 panose="02020603050405020304"/>
              </a:rPr>
              <a:t>ДИПЛОМНАЯ РАБОТА</a:t>
            </a:r>
            <a:endParaRPr sz="2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139696"/>
            <a:ext cx="10515600" cy="123444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/>
              </a:rPr>
              <a:t>Моделирование энергетического спектра</a:t>
            </a:r>
            <a:endParaRPr sz="32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/>
              </a:rPr>
              <a:t>и волновых функций в квантовых точках</a:t>
            </a:r>
            <a:endParaRPr sz="32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/>
              </a:rPr>
              <a:t>сложной геометрии</a:t>
            </a:r>
            <a:endParaRPr sz="32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3712463"/>
            <a:ext cx="10104120" cy="64008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2500" b="0">
                <a:solidFill>
                  <a:srgbClr val="FFFFFF"/>
                </a:solidFill>
                <a:latin typeface="Times New Roman" panose="02020603050405020304"/>
              </a:rPr>
              <a:t>Модельные суперэллиптические квантовые точки</a:t>
            </a:r>
            <a:endParaRPr sz="2500" b="0">
              <a:solidFill>
                <a:srgbClr val="FFFFFF"/>
              </a:solidFill>
              <a:latin typeface="Times New Roman" panose="02020603050405020304"/>
            </a:endParaRPr>
          </a:p>
          <a:p>
            <a:pPr algn="ctr"/>
            <a:r>
              <a:rPr sz="2500" b="0">
                <a:solidFill>
                  <a:srgbClr val="FFFFFF"/>
                </a:solidFill>
                <a:latin typeface="Times New Roman" panose="02020603050405020304"/>
              </a:rPr>
              <a:t>на квадратной решётке метода сильной связи</a:t>
            </a:r>
            <a:endParaRPr sz="2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097280" y="4535424"/>
            <a:ext cx="99669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882896"/>
            <a:ext cx="10378440" cy="86868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2200" b="0">
                <a:solidFill>
                  <a:srgbClr val="FFFFFF"/>
                </a:solidFill>
                <a:latin typeface="Times New Roman" panose="02020603050405020304"/>
              </a:rPr>
              <a:t>Докладчик: Альвинский Александр Андреевич, студент 5 курса</a:t>
            </a:r>
            <a:endParaRPr sz="2200" b="0">
              <a:solidFill>
                <a:srgbClr val="FFFFFF"/>
              </a:solidFill>
              <a:latin typeface="Times New Roman" panose="02020603050405020304"/>
            </a:endParaRPr>
          </a:p>
          <a:p>
            <a:pPr algn="ctr"/>
            <a:r>
              <a:rPr sz="2200" b="0">
                <a:solidFill>
                  <a:srgbClr val="FFFFFF"/>
                </a:solidFill>
                <a:latin typeface="Times New Roman" panose="02020603050405020304"/>
              </a:rPr>
              <a:t>Научный руководитель: А. В. Ларькин, канд. физ.-мат. наук</a:t>
            </a:r>
            <a:r>
              <a:rPr lang="en-US" sz="2200" b="0">
                <a:solidFill>
                  <a:srgbClr val="FFFFFF"/>
                </a:solidFill>
                <a:latin typeface="Times New Roman" panose="02020603050405020304"/>
              </a:rPr>
              <a:t>, </a:t>
            </a:r>
            <a:r>
              <a:rPr lang="ru-RU" sz="2200" b="0">
                <a:solidFill>
                  <a:srgbClr val="FFFFFF"/>
                </a:solidFill>
                <a:latin typeface="Times New Roman" panose="02020603050405020304"/>
              </a:rPr>
              <a:t>зав. кафедрой компьютерного моделирования</a:t>
            </a:r>
            <a:endParaRPr sz="2200" b="0">
              <a:solidFill>
                <a:srgbClr val="FFFFFF"/>
              </a:solidFill>
              <a:latin typeface="Times New Roman" panose="02020603050405020304"/>
            </a:endParaRPr>
          </a:p>
          <a:p>
            <a:pPr algn="ctr"/>
            <a:r>
              <a:rPr sz="2200" b="0">
                <a:solidFill>
                  <a:srgbClr val="FFFFFF"/>
                </a:solidFill>
                <a:latin typeface="Times New Roman" panose="02020603050405020304"/>
              </a:rPr>
              <a:t>Минск, 2026</a:t>
            </a:r>
            <a:endParaRPr sz="2200" b="0">
              <a:solidFill>
                <a:srgbClr val="FFFFFF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38560" y="0"/>
            <a:ext cx="853135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37160"/>
            <a:ext cx="1783080" cy="454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6304"/>
            <a:ext cx="740664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3500" b="0">
                <a:solidFill>
                  <a:srgbClr val="FFFFFF"/>
                </a:solidFill>
                <a:latin typeface="Times New Roman" panose="02020603050405020304"/>
              </a:rPr>
              <a:t>Актуальность, цель и задачи</a:t>
            </a:r>
            <a:endParaRPr sz="3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02568" y="182880"/>
            <a:ext cx="713232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 panose="02020603050405020304"/>
              </a:rPr>
              <a:t>2/6</a:t>
            </a:r>
            <a:endParaRPr sz="22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10927080" cy="53035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2500" b="1">
                <a:solidFill>
                  <a:srgbClr val="002060"/>
                </a:solidFill>
                <a:latin typeface="Times New Roman" panose="02020603050405020304"/>
              </a:rPr>
              <a:t>Форма и размер модельной квантовой точки управляют низкоэнергетическим спектром за счёт квантового ограничения.</a:t>
            </a:r>
            <a:endParaRPr sz="25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8463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Цель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85800" y="2404872"/>
            <a:ext cx="484632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651760"/>
            <a:ext cx="4892040" cy="150876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/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Смоделировать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низкоэнергетический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спектр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модельных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квантовых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точек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сложной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геометрии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методом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сильной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связи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и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проверить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возможность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его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физически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мотивированной</a:t>
            </a:r>
            <a:r>
              <a:rPr lang="en-US" altLang="ru-RU" sz="23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300" b="0">
                <a:solidFill>
                  <a:srgbClr val="000000"/>
                </a:solidFill>
                <a:latin typeface="Times New Roman" panose="02020603050405020304"/>
              </a:rPr>
              <a:t>аппроксимации</a:t>
            </a:r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sz="23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3640" y="2057400"/>
            <a:ext cx="489204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Задачи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404872"/>
            <a:ext cx="489204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6263640" y="2651760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300" b="1">
                <a:solidFill>
                  <a:srgbClr val="002060"/>
                </a:solidFill>
                <a:latin typeface="Times New Roman" panose="02020603050405020304"/>
              </a:rPr>
              <a:t>1.</a:t>
            </a:r>
            <a:endParaRPr sz="23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6675120" y="2651760"/>
            <a:ext cx="4389120" cy="43891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Построить модель метода сильной связи.</a:t>
            </a:r>
            <a:endParaRPr sz="23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6263640" y="3310128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300" b="1">
                <a:solidFill>
                  <a:srgbClr val="002060"/>
                </a:solidFill>
                <a:latin typeface="Times New Roman" panose="02020603050405020304"/>
              </a:rPr>
              <a:t>2.</a:t>
            </a:r>
            <a:endParaRPr sz="23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>
            <p:custDataLst>
              <p:tags r:id="rId5"/>
            </p:custDataLst>
          </p:nvPr>
        </p:nvSpPr>
        <p:spPr>
          <a:xfrm>
            <a:off x="6675120" y="3310128"/>
            <a:ext cx="4389120" cy="43891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Проверить физическую согласованность расчётов.</a:t>
            </a:r>
            <a:endParaRPr sz="23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>
            <p:custDataLst>
              <p:tags r:id="rId6"/>
            </p:custDataLst>
          </p:nvPr>
        </p:nvSpPr>
        <p:spPr>
          <a:xfrm>
            <a:off x="6263640" y="3968496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300" b="1">
                <a:solidFill>
                  <a:srgbClr val="002060"/>
                </a:solidFill>
                <a:latin typeface="Times New Roman" panose="02020603050405020304"/>
              </a:rPr>
              <a:t>3.</a:t>
            </a:r>
            <a:endParaRPr sz="23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6675120" y="3968496"/>
            <a:ext cx="4389120" cy="43891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Сравнить </a:t>
            </a:r>
            <a:r>
              <a:rPr lang="ru-RU" sz="2300" b="0">
                <a:solidFill>
                  <a:srgbClr val="000000"/>
                </a:solidFill>
                <a:latin typeface="Times New Roman" panose="02020603050405020304"/>
              </a:rPr>
              <a:t>гребневую (</a:t>
            </a:r>
            <a:r>
              <a:rPr lang="en-US" sz="2300" b="0">
                <a:solidFill>
                  <a:srgbClr val="000000"/>
                </a:solidFill>
                <a:latin typeface="Times New Roman" panose="02020603050405020304"/>
              </a:rPr>
              <a:t>Ridge)</a:t>
            </a:r>
            <a:r>
              <a:rPr lang="ru-RU" sz="2300" b="0">
                <a:solidFill>
                  <a:srgbClr val="000000"/>
                </a:solidFill>
                <a:latin typeface="Times New Roman" panose="02020603050405020304"/>
              </a:rPr>
              <a:t> регрессию</a:t>
            </a:r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 и </a:t>
            </a:r>
            <a:r>
              <a:rPr sz="2300">
                <a:solidFill>
                  <a:srgbClr val="000000"/>
                </a:solidFill>
                <a:latin typeface="Times New Roman" panose="02020603050405020304"/>
                <a:sym typeface="+mn-ea"/>
              </a:rPr>
              <a:t>многослойный перцептрон</a:t>
            </a:r>
            <a:r>
              <a:rPr lang="en-US" sz="2300">
                <a:solidFill>
                  <a:srgbClr val="000000"/>
                </a:solidFill>
                <a:latin typeface="Times New Roman" panose="02020603050405020304"/>
                <a:sym typeface="+mn-ea"/>
              </a:rPr>
              <a:t> (</a:t>
            </a:r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MLP</a:t>
            </a:r>
            <a:r>
              <a:rPr lang="en-US" sz="2300" b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sz="2300" b="0">
                <a:solidFill>
                  <a:srgbClr val="000000"/>
                </a:solidFill>
                <a:latin typeface="Times New Roman" panose="02020603050405020304"/>
              </a:rPr>
              <a:t> при структурированной проверке.</a:t>
            </a:r>
            <a:endParaRPr sz="23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016752"/>
            <a:ext cx="1088136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Сначала физическая проверка, затем суррогатная аппроксимация.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38560" y="0"/>
            <a:ext cx="853135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37160"/>
            <a:ext cx="1783080" cy="454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6304"/>
            <a:ext cx="740664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3500" b="0">
                <a:solidFill>
                  <a:srgbClr val="FFFFFF"/>
                </a:solidFill>
                <a:latin typeface="Times New Roman" panose="02020603050405020304"/>
              </a:rPr>
              <a:t>Метод исследования</a:t>
            </a:r>
            <a:endParaRPr sz="3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02568" y="182880"/>
            <a:ext cx="713232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 panose="02020603050405020304"/>
              </a:rPr>
              <a:t>3/6</a:t>
            </a:r>
            <a:endParaRPr sz="22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459357"/>
            <a:ext cx="36576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(1)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1950" y="2087245"/>
            <a:ext cx="5668645" cy="94869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/>
            <a:r>
              <a:rPr lang="en-US" altLang="en-US" sz="1800" b="1">
                <a:solidFill>
                  <a:srgbClr val="000000"/>
                </a:solidFill>
                <a:latin typeface="Times New Roman" panose="02020603050405020304"/>
              </a:rPr>
              <a:t>где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ε</a:t>
            </a:r>
            <a:r>
              <a:rPr lang="" altLang="en-US" sz="1800" b="0">
                <a:solidFill>
                  <a:srgbClr val="000000"/>
                </a:solidFill>
                <a:latin typeface="Times New Roman" panose="02020603050405020304"/>
              </a:rPr>
              <a:t>ᵢ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—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энергия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узла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, t</a:t>
            </a:r>
            <a:r>
              <a:rPr lang="" altLang="en-US" sz="1800" b="0">
                <a:solidFill>
                  <a:srgbClr val="000000"/>
                </a:solidFill>
                <a:latin typeface="Times New Roman" panose="02020603050405020304"/>
              </a:rPr>
              <a:t>ᵢ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ⱼ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—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интеграл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перескока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между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ближайшими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узлами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;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в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работе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ε</a:t>
            </a:r>
            <a:r>
              <a:rPr lang="" altLang="en-US" sz="1800" b="0">
                <a:solidFill>
                  <a:srgbClr val="000000"/>
                </a:solidFill>
                <a:latin typeface="Times New Roman" panose="02020603050405020304"/>
              </a:rPr>
              <a:t>ᵢ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= 0, t</a:t>
            </a:r>
            <a:r>
              <a:rPr lang="" altLang="en-US" sz="1800" b="0">
                <a:solidFill>
                  <a:srgbClr val="000000"/>
                </a:solidFill>
                <a:latin typeface="Times New Roman" panose="02020603050405020304"/>
              </a:rPr>
              <a:t>ᵢ</a:t>
            </a:r>
            <a:r>
              <a:rPr lang="en-US" altLang="en-US" sz="1800" b="0">
                <a:solidFill>
                  <a:srgbClr val="000000"/>
                </a:solidFill>
                <a:latin typeface="Times New Roman" panose="02020603050405020304"/>
              </a:rPr>
              <a:t>ⱼ</a:t>
            </a:r>
            <a:r>
              <a:rPr lang="en-US" altLang="ru-RU" sz="1800" b="0">
                <a:solidFill>
                  <a:srgbClr val="000000"/>
                </a:solidFill>
                <a:latin typeface="Times New Roman" panose="02020603050405020304"/>
              </a:rPr>
              <a:t> = −1.</a:t>
            </a:r>
            <a:endParaRPr lang="en-US" altLang="ru-RU"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327781"/>
            <a:ext cx="36576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(2)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61823" y="4029837"/>
                <a:ext cx="4892040" cy="29260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 anchor="t"/>
              <a:lstStyle/>
              <a:p>
                <a:pPr algn="l"/>
                <a:r>
                  <a:rPr sz="1800" b="1">
                    <a:solidFill>
                      <a:srgbClr val="000000"/>
                    </a:solidFill>
                    <a:latin typeface="Times New Roman" panose="02020603050405020304"/>
                  </a:rPr>
                  <a:t>где</a:t>
                </a:r>
                <a:r>
                  <a:rPr sz="1800" b="0">
                    <a:solidFill>
                      <a:srgbClr val="000000"/>
                    </a:solidFill>
                    <a:latin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sz="1800" b="0">
                    <a:solidFill>
                      <a:srgbClr val="000000"/>
                    </a:solidFill>
                    <a:latin typeface="Times New Roman" panose="02020603050405020304"/>
                  </a:rPr>
                  <a:t> — дно зоны бесконечной квадратной решётки</a:t>
                </a:r>
                <a:r>
                  <a:rPr lang="en-US" sz="1800" b="0">
                    <a:solidFill>
                      <a:srgbClr val="000000"/>
                    </a:solidFill>
                    <a:latin typeface="Times New Roman" panose="02020603050405020304"/>
                  </a:rPr>
                  <a:t>, </a:t>
                </a:r>
                <a:r>
                  <a:rPr lang="ru-RU" sz="1800" b="0">
                    <a:solidFill>
                      <a:srgbClr val="000000"/>
                    </a:solidFill>
                    <a:latin typeface="Times New Roman" panose="02020603050405020304"/>
                  </a:rPr>
                  <a:t>поэтому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𝑘𝑖𝑛</m:t>
                        </m:r>
                      </m:sub>
                    </m:sSub>
                    <m:r>
                      <a:rPr lang="en-US" altLang="ru-RU" sz="1800" b="0" i="1">
                        <a:solidFill>
                          <a:srgbClr val="0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 </m:t>
                    </m:r>
                    <m:sSub>
                      <m:sSubPr>
                        <m:ctrlP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ru-RU" sz="1800" b="0" i="1">
                        <a:solidFill>
                          <a:srgbClr val="0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ru-RU" sz="1800" b="0" i="1">
                        <a:solidFill>
                          <a:srgbClr val="0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sSub>
                      <m:sSubPr>
                        <m:ctrlP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ru-RU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ru-RU" sz="1800" b="0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23" y="4029837"/>
                <a:ext cx="4892040" cy="292608"/>
              </a:xfrm>
              <a:prstGeom prst="rect">
                <a:avLst/>
              </a:prstGeom>
              <a:blipFill rotWithShape="1">
                <a:blip r:embed="rId2"/>
                <a:stretch>
                  <a:fillRect l="-10" t="-43" r="10" b="-93533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074920" y="5334000"/>
            <a:ext cx="36576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(3)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61950" y="5894705"/>
                <a:ext cx="5668010" cy="292735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 anchor="t"/>
              <a:lstStyle/>
              <a:p>
                <a:pPr algn="l"/>
                <a:r>
                  <a:rPr sz="1800" b="1">
                    <a:solidFill>
                      <a:srgbClr val="000000"/>
                    </a:solidFill>
                    <a:latin typeface="Times New Roman" panose="02020603050405020304"/>
                  </a:rPr>
                  <a:t>где</a:t>
                </a:r>
                <a:r>
                  <a:rPr sz="1800" b="0">
                    <a:solidFill>
                      <a:srgbClr val="000000"/>
                    </a:solidFill>
                    <a:latin typeface="Times New Roman" panose="02020603050405020304"/>
                  </a:rPr>
                  <a:t> a — размер,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sz="1800" b="0">
                    <a:solidFill>
                      <a:srgbClr val="000000"/>
                    </a:solidFill>
                    <a:latin typeface="Times New Roman" panose="02020603050405020304"/>
                  </a:rPr>
                  <a:t> — отношение сторон, n — класс формы.</a:t>
                </a:r>
                <a:endParaRPr sz="1800" b="0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5894705"/>
                <a:ext cx="5668010" cy="292735"/>
              </a:xfrm>
              <a:prstGeom prst="rect">
                <a:avLst/>
              </a:prstGeom>
              <a:blipFill rotWithShape="1">
                <a:blip r:embed="rId3"/>
                <a:stretch>
                  <a:fillRect b="-93492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lattice_superellip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43000"/>
            <a:ext cx="4892040" cy="3840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2200" y="5120640"/>
            <a:ext cx="5303520" cy="384048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Рисунок 1 — Квадратная решётка и суперэллиптическая область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1" name="2384804F-3998-4D57-9195-F3826E402611-1" descr="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525" y="1459230"/>
            <a:ext cx="3764643" cy="531560"/>
          </a:xfrm>
          <a:prstGeom prst="rect">
            <a:avLst/>
          </a:prstGeom>
        </p:spPr>
      </p:pic>
      <p:sp>
        <p:nvSpPr>
          <p:cNvPr id="22" name="Текстовое поле 21"/>
          <p:cNvSpPr txBox="1"/>
          <p:nvPr/>
        </p:nvSpPr>
        <p:spPr>
          <a:xfrm>
            <a:off x="247015" y="994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b="1"/>
              <a:t> </a:t>
            </a:r>
            <a:r>
              <a:rPr lang="en-US" altLang="en-US" b="1"/>
              <a:t>Гамильтониан</a:t>
            </a:r>
            <a:r>
              <a:rPr lang="en-US" altLang="ru-RU" b="1"/>
              <a:t> </a:t>
            </a:r>
            <a:r>
              <a:rPr lang="en-US" altLang="en-US" b="1"/>
              <a:t>метода</a:t>
            </a:r>
            <a:r>
              <a:rPr lang="en-US" altLang="ru-RU" b="1"/>
              <a:t> </a:t>
            </a:r>
            <a:r>
              <a:rPr lang="en-US" altLang="en-US" b="1"/>
              <a:t>сильной</a:t>
            </a:r>
            <a:r>
              <a:rPr lang="en-US" altLang="ru-RU" b="1"/>
              <a:t> </a:t>
            </a:r>
            <a:r>
              <a:rPr lang="en-US" altLang="en-US" b="1"/>
              <a:t>связи:</a:t>
            </a:r>
            <a:endParaRPr lang="en-US" altLang="en-US" b="1"/>
          </a:p>
        </p:txBody>
      </p:sp>
      <p:pic>
        <p:nvPicPr>
          <p:cNvPr id="23" name="2384804F-3998-4D57-9195-F3826E402611-2" descr="wpp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1820" y="3345180"/>
            <a:ext cx="2092325" cy="294005"/>
          </a:xfrm>
          <a:prstGeom prst="rect">
            <a:avLst/>
          </a:prstGeom>
        </p:spPr>
      </p:pic>
      <p:sp>
        <p:nvSpPr>
          <p:cNvPr id="24" name="Текстовое поле 23"/>
          <p:cNvSpPr txBox="1"/>
          <p:nvPr/>
        </p:nvSpPr>
        <p:spPr>
          <a:xfrm>
            <a:off x="247015" y="2859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Отсчёт</a:t>
            </a:r>
            <a:r>
              <a:rPr lang="en-US" altLang="ru-RU" b="1"/>
              <a:t> </a:t>
            </a:r>
            <a:r>
              <a:rPr lang="en-US" altLang="en-US" b="1"/>
              <a:t>энергии</a:t>
            </a:r>
            <a:r>
              <a:rPr lang="en-US" altLang="ru-RU" b="1"/>
              <a:t> </a:t>
            </a:r>
            <a:r>
              <a:rPr lang="en-US" altLang="en-US" b="1"/>
              <a:t>от</a:t>
            </a:r>
            <a:r>
              <a:rPr lang="en-US" altLang="ru-RU" b="1"/>
              <a:t> </a:t>
            </a:r>
            <a:r>
              <a:rPr lang="en-US" altLang="en-US" b="1"/>
              <a:t>дна</a:t>
            </a:r>
            <a:r>
              <a:rPr lang="en-US" altLang="ru-RU" b="1"/>
              <a:t> </a:t>
            </a:r>
            <a:r>
              <a:rPr lang="en-US" altLang="en-US" b="1"/>
              <a:t>зоны:</a:t>
            </a:r>
            <a:endParaRPr lang="en-US" altLang="en-US" b="1"/>
          </a:p>
        </p:txBody>
      </p:sp>
      <p:sp>
        <p:nvSpPr>
          <p:cNvPr id="25" name="Текстовое поле 24"/>
          <p:cNvSpPr txBox="1"/>
          <p:nvPr/>
        </p:nvSpPr>
        <p:spPr>
          <a:xfrm>
            <a:off x="247015" y="4802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Геометрия</a:t>
            </a:r>
            <a:r>
              <a:rPr lang="en-US" altLang="ru-RU" b="1"/>
              <a:t> </a:t>
            </a:r>
            <a:r>
              <a:rPr lang="en-US" altLang="en-US" b="1"/>
              <a:t>суперэллипса:</a:t>
            </a:r>
            <a:endParaRPr lang="en-US" altLang="en-US" b="1"/>
          </a:p>
        </p:txBody>
      </p:sp>
      <p:pic>
        <p:nvPicPr>
          <p:cNvPr id="27" name="2384804F-3998-4D57-9195-F3826E402611-4" descr="wpp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7315" y="5316220"/>
            <a:ext cx="3061607" cy="4332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38560" y="0"/>
            <a:ext cx="853135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37160"/>
            <a:ext cx="1783080" cy="454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6304"/>
            <a:ext cx="740664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3500" b="0">
                <a:solidFill>
                  <a:srgbClr val="FFFFFF"/>
                </a:solidFill>
                <a:latin typeface="Times New Roman" panose="02020603050405020304"/>
              </a:rPr>
              <a:t>Верификация расчётов</a:t>
            </a:r>
            <a:endParaRPr sz="3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02568" y="182880"/>
            <a:ext cx="713232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 panose="02020603050405020304"/>
              </a:rPr>
              <a:t>4/6</a:t>
            </a:r>
            <a:endParaRPr sz="22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24585"/>
            <a:ext cx="406908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Физические проверки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58368" y="1490472"/>
            <a:ext cx="406908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1828800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2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374904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 panose="02020603050405020304"/>
              </a:rPr>
              <a:t>прямоугольная контрольная задача;</a:t>
            </a:r>
            <a:endParaRPr sz="22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200" b="1">
              <a:solidFill>
                <a:srgbClr val="002060"/>
              </a:solidFill>
              <a:latin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005840" y="2468880"/>
                <a:ext cx="3749040" cy="546100"/>
              </a:xfrm>
              <a:prstGeom prst="rect">
                <a:avLst/>
              </a:prstGeom>
              <a:noFill/>
            </p:spPr>
            <p:txBody>
              <a:bodyPr wrap="square" lIns="0" tIns="18288" rIns="0" bIns="18288" anchor="t"/>
              <a:lstStyle/>
              <a:p>
                <a:pPr algn="l"/>
                <a:r>
                  <a:rPr sz="2200" b="0">
                    <a:solidFill>
                      <a:srgbClr val="000000"/>
                    </a:solidFill>
                    <a:latin typeface="Times New Roman" panose="02020603050405020304"/>
                  </a:rPr>
                  <a:t>проверка масштаба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sz="22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200" b="0">
                    <a:solidFill>
                      <a:srgbClr val="000000"/>
                    </a:solidFill>
                    <a:latin typeface="Times New Roman" panose="02020603050405020304"/>
                  </a:rPr>
                  <a:t>;</a:t>
                </a:r>
                <a:endParaRPr sz="2200" b="0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468880"/>
                <a:ext cx="3749040" cy="546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85800" y="3108960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2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374904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 panose="02020603050405020304"/>
              </a:rPr>
              <a:t>круговая проверка Бесселя: ошибка ≈ 2.03%;</a:t>
            </a:r>
            <a:endParaRPr sz="22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2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374904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 panose="02020603050405020304"/>
              </a:rPr>
              <a:t>проверка при фиксированной форме: максимум отклонения ≈ 2.12%.</a:t>
            </a:r>
            <a:endParaRPr sz="22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18" name="Picture 17" descr="ar_scaling_relative_dev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78992"/>
            <a:ext cx="6583680" cy="4251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54880" y="5440680"/>
            <a:ext cx="6720840" cy="475488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Рисунок 2 — Максимальное относительное отклонение величины (E₀ + 4)a² от среднего значения при фиксированной форме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38560" y="0"/>
            <a:ext cx="853135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37160"/>
            <a:ext cx="1783080" cy="454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6304"/>
            <a:ext cx="740664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3500" b="0">
                <a:solidFill>
                  <a:srgbClr val="FFFFFF"/>
                </a:solidFill>
                <a:latin typeface="Times New Roman" panose="02020603050405020304"/>
              </a:rPr>
              <a:t>Суррогатная аппроксимация</a:t>
            </a:r>
            <a:endParaRPr sz="3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02568" y="182880"/>
            <a:ext cx="713232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 panose="02020603050405020304"/>
              </a:rPr>
              <a:t>5/6</a:t>
            </a:r>
            <a:endParaRPr sz="22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1975" y="1051560"/>
            <a:ext cx="5975985" cy="292735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Физически мотивированные признаки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0080" y="1399031"/>
            <a:ext cx="525780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600200"/>
            <a:ext cx="3703320" cy="5004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2359152"/>
            <a:ext cx="5074920" cy="100584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/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первый признак задаёт масштаб квантового ограничения;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  <a:p>
            <a:pPr algn="l"/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второй — площадь-подобную поправку;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  <a:p>
            <a:pPr algn="l"/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третий — анизотропию формы.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3456432"/>
            <a:ext cx="5303520" cy="11155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Ridge-регрессия — основная интерпретируемая модель.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MLP — многослойный перцептрон, контрольная нелинейная модель.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Случайное разбиение не использовалось.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09105" y="1051560"/>
            <a:ext cx="493776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Структурированная проверка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1399031"/>
            <a:ext cx="493776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6537960" y="1572768"/>
            <a:ext cx="21488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LOAO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6" name="Rectangle 15"/>
          <p:cNvSpPr/>
          <p:nvPr>
            <p:custDataLst>
              <p:tags r:id="rId4"/>
            </p:custDataLst>
          </p:nvPr>
        </p:nvSpPr>
        <p:spPr>
          <a:xfrm>
            <a:off x="7013448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5"/>
            </p:custDataLst>
          </p:nvPr>
        </p:nvSpPr>
        <p:spPr>
          <a:xfrm>
            <a:off x="7228332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6"/>
            </p:custDataLst>
          </p:nvPr>
        </p:nvSpPr>
        <p:spPr>
          <a:xfrm>
            <a:off x="7443216" y="1975104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7"/>
            </p:custDataLst>
          </p:nvPr>
        </p:nvSpPr>
        <p:spPr>
          <a:xfrm>
            <a:off x="7658100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8"/>
            </p:custDataLst>
          </p:nvPr>
        </p:nvSpPr>
        <p:spPr>
          <a:xfrm>
            <a:off x="7872983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9"/>
            </p:custDataLst>
          </p:nvPr>
        </p:nvSpPr>
        <p:spPr>
          <a:xfrm>
            <a:off x="7013448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0"/>
            </p:custDataLst>
          </p:nvPr>
        </p:nvSpPr>
        <p:spPr>
          <a:xfrm>
            <a:off x="7228332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1"/>
            </p:custDataLst>
          </p:nvPr>
        </p:nvSpPr>
        <p:spPr>
          <a:xfrm>
            <a:off x="7443216" y="2189988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12"/>
            </p:custDataLst>
          </p:nvPr>
        </p:nvSpPr>
        <p:spPr>
          <a:xfrm>
            <a:off x="7658100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13"/>
            </p:custDataLst>
          </p:nvPr>
        </p:nvSpPr>
        <p:spPr>
          <a:xfrm>
            <a:off x="7872983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14"/>
            </p:custDataLst>
          </p:nvPr>
        </p:nvSpPr>
        <p:spPr>
          <a:xfrm>
            <a:off x="7013448" y="2404872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15"/>
            </p:custDataLst>
          </p:nvPr>
        </p:nvSpPr>
        <p:spPr>
          <a:xfrm>
            <a:off x="7228332" y="2404872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>
            <p:custDataLst>
              <p:tags r:id="rId16"/>
            </p:custDataLst>
          </p:nvPr>
        </p:nvSpPr>
        <p:spPr>
          <a:xfrm>
            <a:off x="7443216" y="2404872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17"/>
            </p:custDataLst>
          </p:nvPr>
        </p:nvSpPr>
        <p:spPr>
          <a:xfrm>
            <a:off x="7658100" y="2404872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>
            <p:custDataLst>
              <p:tags r:id="rId18"/>
            </p:custDataLst>
          </p:nvPr>
        </p:nvSpPr>
        <p:spPr>
          <a:xfrm>
            <a:off x="7872983" y="2404872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19"/>
            </p:custDataLst>
          </p:nvPr>
        </p:nvSpPr>
        <p:spPr>
          <a:xfrm>
            <a:off x="7013448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>
            <p:custDataLst>
              <p:tags r:id="rId20"/>
            </p:custDataLst>
          </p:nvPr>
        </p:nvSpPr>
        <p:spPr>
          <a:xfrm>
            <a:off x="7228332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>
            <p:custDataLst>
              <p:tags r:id="rId21"/>
            </p:custDataLst>
          </p:nvPr>
        </p:nvSpPr>
        <p:spPr>
          <a:xfrm>
            <a:off x="7443216" y="2619756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>
            <p:custDataLst>
              <p:tags r:id="rId22"/>
            </p:custDataLst>
          </p:nvPr>
        </p:nvSpPr>
        <p:spPr>
          <a:xfrm>
            <a:off x="7658100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>
            <p:custDataLst>
              <p:tags r:id="rId23"/>
            </p:custDataLst>
          </p:nvPr>
        </p:nvSpPr>
        <p:spPr>
          <a:xfrm>
            <a:off x="7872983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>
            <p:custDataLst>
              <p:tags r:id="rId24"/>
            </p:custDataLst>
          </p:nvPr>
        </p:nvSpPr>
        <p:spPr>
          <a:xfrm>
            <a:off x="7013448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>
            <p:custDataLst>
              <p:tags r:id="rId25"/>
            </p:custDataLst>
          </p:nvPr>
        </p:nvSpPr>
        <p:spPr>
          <a:xfrm>
            <a:off x="7228332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>
            <p:custDataLst>
              <p:tags r:id="rId26"/>
            </p:custDataLst>
          </p:nvPr>
        </p:nvSpPr>
        <p:spPr>
          <a:xfrm>
            <a:off x="7443216" y="2834640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>
            <p:custDataLst>
              <p:tags r:id="rId27"/>
            </p:custDataLst>
          </p:nvPr>
        </p:nvSpPr>
        <p:spPr>
          <a:xfrm>
            <a:off x="7658100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>
            <p:custDataLst>
              <p:tags r:id="rId28"/>
            </p:custDataLst>
          </p:nvPr>
        </p:nvSpPr>
        <p:spPr>
          <a:xfrm>
            <a:off x="7872983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>
            <p:custDataLst>
              <p:tags r:id="rId29"/>
            </p:custDataLst>
          </p:nvPr>
        </p:nvSpPr>
        <p:spPr>
          <a:xfrm>
            <a:off x="6483096" y="3145536"/>
            <a:ext cx="224028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исключение</a:t>
            </a:r>
            <a:r>
              <a:rPr lang="en-US" sz="17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700" b="0">
                <a:solidFill>
                  <a:srgbClr val="000000"/>
                </a:solidFill>
                <a:latin typeface="Times New Roman" panose="02020603050405020304"/>
              </a:rPr>
              <a:t>весь</a:t>
            </a:r>
            <a:r>
              <a:rPr lang="en-US" altLang="ru-RU" sz="17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700" b="0">
                <a:solidFill>
                  <a:srgbClr val="000000"/>
                </a:solidFill>
                <a:latin typeface="Times New Roman" panose="02020603050405020304"/>
              </a:rPr>
              <a:t>столбец</a:t>
            </a: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sz="1700" b="1">
                <a:solidFill>
                  <a:srgbClr val="000000"/>
                </a:solidFill>
                <a:latin typeface="Times New Roman" panose="02020603050405020304"/>
              </a:rPr>
              <a:t>a</a:t>
            </a:r>
            <a:endParaRPr sz="1700" b="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TextBox 41"/>
          <p:cNvSpPr txBox="1"/>
          <p:nvPr>
            <p:custDataLst>
              <p:tags r:id="rId30"/>
            </p:custDataLst>
          </p:nvPr>
        </p:nvSpPr>
        <p:spPr>
          <a:xfrm>
            <a:off x="8961120" y="1572768"/>
            <a:ext cx="21488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LOARO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43" name="Rectangle 42"/>
          <p:cNvSpPr/>
          <p:nvPr>
            <p:custDataLst>
              <p:tags r:id="rId31"/>
            </p:custDataLst>
          </p:nvPr>
        </p:nvSpPr>
        <p:spPr>
          <a:xfrm>
            <a:off x="9436608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>
            <p:custDataLst>
              <p:tags r:id="rId32"/>
            </p:custDataLst>
          </p:nvPr>
        </p:nvSpPr>
        <p:spPr>
          <a:xfrm>
            <a:off x="9651492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>
            <p:custDataLst>
              <p:tags r:id="rId33"/>
            </p:custDataLst>
          </p:nvPr>
        </p:nvSpPr>
        <p:spPr>
          <a:xfrm>
            <a:off x="9866376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>
            <p:custDataLst>
              <p:tags r:id="rId34"/>
            </p:custDataLst>
          </p:nvPr>
        </p:nvSpPr>
        <p:spPr>
          <a:xfrm>
            <a:off x="10081260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>
            <p:custDataLst>
              <p:tags r:id="rId35"/>
            </p:custDataLst>
          </p:nvPr>
        </p:nvSpPr>
        <p:spPr>
          <a:xfrm>
            <a:off x="10296144" y="1975104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>
            <p:custDataLst>
              <p:tags r:id="rId36"/>
            </p:custDataLst>
          </p:nvPr>
        </p:nvSpPr>
        <p:spPr>
          <a:xfrm>
            <a:off x="9436608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>
            <p:custDataLst>
              <p:tags r:id="rId37"/>
            </p:custDataLst>
          </p:nvPr>
        </p:nvSpPr>
        <p:spPr>
          <a:xfrm>
            <a:off x="9651492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>
            <p:custDataLst>
              <p:tags r:id="rId38"/>
            </p:custDataLst>
          </p:nvPr>
        </p:nvSpPr>
        <p:spPr>
          <a:xfrm>
            <a:off x="9866376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>
            <p:custDataLst>
              <p:tags r:id="rId39"/>
            </p:custDataLst>
          </p:nvPr>
        </p:nvSpPr>
        <p:spPr>
          <a:xfrm>
            <a:off x="10081260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>
            <p:custDataLst>
              <p:tags r:id="rId40"/>
            </p:custDataLst>
          </p:nvPr>
        </p:nvSpPr>
        <p:spPr>
          <a:xfrm>
            <a:off x="10296144" y="2189988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>
            <p:custDataLst>
              <p:tags r:id="rId41"/>
            </p:custDataLst>
          </p:nvPr>
        </p:nvSpPr>
        <p:spPr>
          <a:xfrm>
            <a:off x="9436608" y="2404872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>
            <p:custDataLst>
              <p:tags r:id="rId42"/>
            </p:custDataLst>
          </p:nvPr>
        </p:nvSpPr>
        <p:spPr>
          <a:xfrm>
            <a:off x="9651492" y="2404872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>
            <p:custDataLst>
              <p:tags r:id="rId43"/>
            </p:custDataLst>
          </p:nvPr>
        </p:nvSpPr>
        <p:spPr>
          <a:xfrm>
            <a:off x="9866376" y="2404872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>
            <p:custDataLst>
              <p:tags r:id="rId44"/>
            </p:custDataLst>
          </p:nvPr>
        </p:nvSpPr>
        <p:spPr>
          <a:xfrm>
            <a:off x="10081260" y="2404872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>
            <p:custDataLst>
              <p:tags r:id="rId45"/>
            </p:custDataLst>
          </p:nvPr>
        </p:nvSpPr>
        <p:spPr>
          <a:xfrm>
            <a:off x="10296144" y="2404872"/>
            <a:ext cx="192024" cy="192024"/>
          </a:xfrm>
          <a:prstGeom prst="rect">
            <a:avLst/>
          </a:prstGeom>
          <a:solidFill>
            <a:srgbClr val="1E5AA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>
            <p:custDataLst>
              <p:tags r:id="rId46"/>
            </p:custDataLst>
          </p:nvPr>
        </p:nvSpPr>
        <p:spPr>
          <a:xfrm>
            <a:off x="9436608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>
            <p:custDataLst>
              <p:tags r:id="rId47"/>
            </p:custDataLst>
          </p:nvPr>
        </p:nvSpPr>
        <p:spPr>
          <a:xfrm>
            <a:off x="9651492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>
            <p:custDataLst>
              <p:tags r:id="rId48"/>
            </p:custDataLst>
          </p:nvPr>
        </p:nvSpPr>
        <p:spPr>
          <a:xfrm>
            <a:off x="9866376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>
            <p:custDataLst>
              <p:tags r:id="rId49"/>
            </p:custDataLst>
          </p:nvPr>
        </p:nvSpPr>
        <p:spPr>
          <a:xfrm>
            <a:off x="10081260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>
            <p:custDataLst>
              <p:tags r:id="rId50"/>
            </p:custDataLst>
          </p:nvPr>
        </p:nvSpPr>
        <p:spPr>
          <a:xfrm>
            <a:off x="10296144" y="2619756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>
            <p:custDataLst>
              <p:tags r:id="rId51"/>
            </p:custDataLst>
          </p:nvPr>
        </p:nvSpPr>
        <p:spPr>
          <a:xfrm>
            <a:off x="9436608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>
            <p:custDataLst>
              <p:tags r:id="rId52"/>
            </p:custDataLst>
          </p:nvPr>
        </p:nvSpPr>
        <p:spPr>
          <a:xfrm>
            <a:off x="9651492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>
            <p:custDataLst>
              <p:tags r:id="rId53"/>
            </p:custDataLst>
          </p:nvPr>
        </p:nvSpPr>
        <p:spPr>
          <a:xfrm>
            <a:off x="9866376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>
            <p:custDataLst>
              <p:tags r:id="rId54"/>
            </p:custDataLst>
          </p:nvPr>
        </p:nvSpPr>
        <p:spPr>
          <a:xfrm>
            <a:off x="10081260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>
            <p:custDataLst>
              <p:tags r:id="rId55"/>
            </p:custDataLst>
          </p:nvPr>
        </p:nvSpPr>
        <p:spPr>
          <a:xfrm>
            <a:off x="10296144" y="2834640"/>
            <a:ext cx="192024" cy="192024"/>
          </a:xfrm>
          <a:prstGeom prst="rect">
            <a:avLst/>
          </a:prstGeom>
          <a:solidFill>
            <a:srgbClr val="EAF1F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906256" y="3145536"/>
                <a:ext cx="2240280" cy="384048"/>
              </a:xfrm>
              <a:prstGeom prst="rect">
                <a:avLst/>
              </a:prstGeom>
              <a:noFill/>
            </p:spPr>
            <p:txBody>
              <a:bodyPr wrap="square" lIns="0" tIns="18288" rIns="0" bIns="18288" anchor="t"/>
              <a:lstStyle/>
              <a:p>
                <a:pPr algn="ctr"/>
                <a:r>
                  <a:rPr sz="1700" b="0">
                    <a:solidFill>
                      <a:srgbClr val="000000"/>
                    </a:solidFill>
                    <a:latin typeface="Times New Roman" panose="02020603050405020304"/>
                  </a:rPr>
                  <a:t>исключ</a:t>
                </a:r>
                <a:r>
                  <a:rPr lang="ru-RU" sz="1700" b="0">
                    <a:solidFill>
                      <a:srgbClr val="000000"/>
                    </a:solidFill>
                    <a:latin typeface="Times New Roman" panose="02020603050405020304"/>
                  </a:rPr>
                  <a:t>ается вся строка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7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ru-RU" sz="17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ru-RU" sz="17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𝐴𝑅</m:t>
                        </m:r>
                      </m:sub>
                    </m:sSub>
                  </m:oMath>
                </a14:m>
                <a:endParaRPr lang="ru-RU" sz="1700" b="0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7"/>
                </p:custDataLst>
              </p:nvPr>
            </p:nvSpPr>
            <p:spPr>
              <a:xfrm>
                <a:off x="8906256" y="3145536"/>
                <a:ext cx="2240280" cy="384048"/>
              </a:xfrm>
              <a:prstGeom prst="rect">
                <a:avLst/>
              </a:prstGeom>
              <a:blipFill rotWithShape="1">
                <a:blip r:embed="rId58"/>
                <a:stretch>
                  <a:fillRect l="-17" t="-99" r="17" b="-39451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6483350" y="3765169"/>
            <a:ext cx="475488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 panose="02020603050405020304"/>
              </a:rPr>
              <a:t>MLP + физические признаки</a:t>
            </a:r>
            <a:r>
              <a:rPr lang="en-US" sz="2200" b="1">
                <a:solidFill>
                  <a:srgbClr val="002060"/>
                </a:solidFill>
                <a:latin typeface="Times New Roman" panose="02020603050405020304"/>
              </a:rPr>
              <a:t>:</a:t>
            </a:r>
            <a:endParaRPr lang="en-US" sz="22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766560" y="4140200"/>
            <a:ext cx="4379595" cy="161417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lang="ru-RU" b="1">
                <a:solidFill>
                  <a:srgbClr val="000000"/>
                </a:solidFill>
                <a:latin typeface="Times New Roman" panose="02020603050405020304"/>
              </a:rPr>
              <a:t>улучшение в 10 из 16 проверочных случаев</a:t>
            </a:r>
            <a:r>
              <a:rPr lang="en-US" altLang="ru-RU" b="1">
                <a:solidFill>
                  <a:srgbClr val="000000"/>
                </a:solidFill>
                <a:latin typeface="Times New Roman" panose="02020603050405020304"/>
              </a:rPr>
              <a:t>;</a:t>
            </a:r>
            <a:endParaRPr lang="ru-RU" b="1">
              <a:solidFill>
                <a:srgbClr val="000000"/>
              </a:solidFill>
              <a:latin typeface="Times New Roman" panose="02020603050405020304"/>
            </a:endParaRPr>
          </a:p>
          <a:p>
            <a:pPr algn="ctr"/>
            <a:r>
              <a:rPr lang="en-US" b="1">
                <a:solidFill>
                  <a:srgbClr val="000000"/>
                </a:solidFill>
                <a:latin typeface="Times New Roman" panose="02020603050405020304"/>
              </a:rPr>
              <a:t>LOAO: 3 </a:t>
            </a:r>
            <a:r>
              <a:rPr lang="ru-RU" b="1">
                <a:solidFill>
                  <a:srgbClr val="000000"/>
                </a:solidFill>
                <a:latin typeface="Times New Roman" panose="02020603050405020304"/>
              </a:rPr>
              <a:t>из 8</a:t>
            </a:r>
            <a:r>
              <a:rPr lang="en-US" altLang="ru-RU" b="1">
                <a:solidFill>
                  <a:srgbClr val="000000"/>
                </a:solidFill>
                <a:latin typeface="Times New Roman" panose="02020603050405020304"/>
              </a:rPr>
              <a:t>;</a:t>
            </a:r>
            <a:endParaRPr lang="ru-RU" b="1">
              <a:solidFill>
                <a:srgbClr val="000000"/>
              </a:solidFill>
              <a:latin typeface="Times New Roman" panose="02020603050405020304"/>
            </a:endParaRPr>
          </a:p>
          <a:p>
            <a:pPr algn="ctr"/>
            <a:r>
              <a:rPr lang="en-US" b="1">
                <a:solidFill>
                  <a:srgbClr val="000000"/>
                </a:solidFill>
                <a:latin typeface="Times New Roman" panose="02020603050405020304"/>
              </a:rPr>
              <a:t>LOARO: 7</a:t>
            </a:r>
            <a:r>
              <a:rPr lang="ru-RU" b="1">
                <a:solidFill>
                  <a:srgbClr val="000000"/>
                </a:solidFill>
                <a:latin typeface="Times New Roman" panose="02020603050405020304"/>
              </a:rPr>
              <a:t> из 8</a:t>
            </a:r>
            <a:endParaRPr lang="ru-RU" b="1">
              <a:solidFill>
                <a:srgbClr val="000000"/>
              </a:solidFill>
              <a:latin typeface="Times New Roman" panose="02020603050405020304"/>
            </a:endParaRPr>
          </a:p>
          <a:p>
            <a:pPr algn="l"/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(16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случаев</a:t>
            </a:r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 = 4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формы</a:t>
            </a:r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×</a:t>
            </a:r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 2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величины</a:t>
            </a:r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×</a:t>
            </a:r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 2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схемы</a:t>
            </a:r>
            <a:r>
              <a:rPr lang="en-US" altLang="ru-RU" sz="1400" b="1" i="1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1400" b="1" i="1">
                <a:solidFill>
                  <a:srgbClr val="000000"/>
                </a:solidFill>
                <a:latin typeface="Times New Roman" panose="02020603050405020304"/>
              </a:rPr>
              <a:t>проверки)</a:t>
            </a:r>
            <a:endParaRPr lang="en-US" altLang="en-US" sz="1400" b="1" i="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0080" y="6016752"/>
            <a:ext cx="1088136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MLP не показал устойчивого преимущества по заданному критерию.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38560" y="0"/>
            <a:ext cx="853135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37160"/>
            <a:ext cx="1783080" cy="454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6304"/>
            <a:ext cx="740664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3500" b="0">
                <a:solidFill>
                  <a:srgbClr val="FFFFFF"/>
                </a:solidFill>
                <a:latin typeface="Times New Roman" panose="02020603050405020304"/>
              </a:rPr>
              <a:t>Выводы и ограничения</a:t>
            </a:r>
            <a:endParaRPr sz="3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02568" y="182880"/>
            <a:ext cx="713232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 panose="02020603050405020304"/>
              </a:rPr>
              <a:t>6/6</a:t>
            </a:r>
            <a:endParaRPr sz="22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999" cy="310896"/>
          </a:xfrm>
          <a:prstGeom prst="rect">
            <a:avLst/>
          </a:prstGeom>
          <a:solidFill>
            <a:srgbClr val="1E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62356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Основные выводы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0080" y="1353312"/>
            <a:ext cx="562356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658368" y="1664208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 panose="02020603050405020304"/>
              </a:rPr>
              <a:t>1.</a:t>
            </a:r>
            <a:endParaRPr sz="20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069975" y="1664335"/>
            <a:ext cx="5547360" cy="438785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В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исследованной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сетке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параметров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спектр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согласуется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с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масштабом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квантового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en-US" sz="2000" b="0">
                <a:solidFill>
                  <a:srgbClr val="000000"/>
                </a:solidFill>
                <a:latin typeface="Times New Roman" panose="02020603050405020304"/>
              </a:rPr>
              <a:t>ограничения</a:t>
            </a:r>
            <a:r>
              <a:rPr lang="en-US" altLang="ru-RU" sz="2000" b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altLang="ru-RU"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58368" y="2231136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 panose="02020603050405020304"/>
              </a:rPr>
              <a:t>2.</a:t>
            </a:r>
            <a:endParaRPr sz="20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1069848" y="2231136"/>
            <a:ext cx="5349240" cy="43891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Ridge-регрессия остаётся основной интерпретируемой моделью.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658368" y="2926334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 panose="02020603050405020304"/>
              </a:rPr>
              <a:t>3.</a:t>
            </a:r>
            <a:endParaRPr sz="20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1069848" y="2926334"/>
            <a:ext cx="5349240" cy="43891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MLP не дал устойчивого преимущества.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58368" y="3364991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 panose="02020603050405020304"/>
              </a:rPr>
              <a:t>4.</a:t>
            </a:r>
            <a:endParaRPr sz="2000" b="1">
              <a:solidFill>
                <a:srgbClr val="002060"/>
              </a:solidFill>
              <a:latin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069848" y="3364991"/>
                <a:ext cx="5349240" cy="438912"/>
              </a:xfrm>
              <a:prstGeom prst="rect">
                <a:avLst/>
              </a:prstGeom>
              <a:noFill/>
            </p:spPr>
            <p:txBody>
              <a:bodyPr wrap="square" lIns="0" tIns="18288" rIns="0" bIns="18288" anchor="t"/>
              <a:lstStyle/>
              <a:p>
                <a:pPr algn="l"/>
                <a:r>
                  <a:rPr sz="2000" b="0">
                    <a:solidFill>
                      <a:srgbClr val="000000"/>
                    </a:solidFill>
                    <a:latin typeface="Times New Roman" panose="02020603050405020304"/>
                  </a:rPr>
                  <a:t>Ошибка Ridge: E₀ 2.01–2.60% от Eₖᵢₙ; dE₁ 0.78–1.15%</a:t>
                </a:r>
                <a:r>
                  <a:rPr lang="ru-RU" sz="2000" b="0">
                    <a:solidFill>
                      <a:srgbClr val="000000"/>
                    </a:solidFill>
                    <a:latin typeface="Times New Roman" panose="02020603050405020304"/>
                  </a:rPr>
                  <a:t> от характерного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ru-RU" sz="20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𝑑𝐸</m:t>
                        </m:r>
                      </m:e>
                      <m:sub>
                        <m:r>
                          <a:rPr lang="en-US" altLang="ru-RU" sz="2000" b="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000000"/>
                    </a:solidFill>
                    <a:latin typeface="Times New Roman" panose="02020603050405020304"/>
                  </a:rPr>
                  <a:t>.</a:t>
                </a:r>
                <a:endParaRPr sz="2000" b="0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069848" y="3364991"/>
                <a:ext cx="5349240" cy="438912"/>
              </a:xfrm>
              <a:prstGeom prst="rect">
                <a:avLst/>
              </a:prstGeom>
              <a:blipFill rotWithShape="1">
                <a:blip r:embed="rId11"/>
                <a:stretch>
                  <a:fillRect l="-9" t="-29" r="9" b="-42911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658368" y="3931920"/>
            <a:ext cx="32004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 panose="02020603050405020304"/>
              </a:rPr>
              <a:t>5.</a:t>
            </a:r>
            <a:endParaRPr sz="20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1069848" y="3931920"/>
            <a:ext cx="5349240" cy="43891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 panose="02020603050405020304"/>
              </a:rPr>
              <a:t>Простые диагностики границы не объясняют остатки универсально.</a:t>
            </a:r>
            <a:endParaRPr sz="20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1005840"/>
            <a:ext cx="475488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400" b="1">
                <a:solidFill>
                  <a:srgbClr val="002060"/>
                </a:solidFill>
                <a:latin typeface="Times New Roman" panose="02020603050405020304"/>
              </a:rPr>
              <a:t>Ограничения</a:t>
            </a:r>
            <a:endParaRPr sz="24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1353312"/>
            <a:ext cx="4754880" cy="0"/>
          </a:xfrm>
          <a:prstGeom prst="line">
            <a:avLst/>
          </a:prstGeom>
          <a:ln w="1524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93408" y="1691640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13448" y="1691640"/>
            <a:ext cx="438912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0">
                <a:solidFill>
                  <a:srgbClr val="000000"/>
                </a:solidFill>
                <a:latin typeface="Times New Roman" panose="02020603050405020304"/>
              </a:rPr>
              <a:t>только заданная сетка параметров;</a:t>
            </a:r>
            <a:endParaRPr sz="21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93408" y="2258568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13448" y="2258568"/>
            <a:ext cx="438912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0">
                <a:solidFill>
                  <a:srgbClr val="000000"/>
                </a:solidFill>
                <a:latin typeface="Times New Roman" panose="02020603050405020304"/>
              </a:rPr>
              <a:t>n рассматривается как дискретный класс формы;</a:t>
            </a:r>
            <a:endParaRPr sz="21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02298" y="2953131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40753" y="2953131"/>
            <a:ext cx="438912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0">
                <a:solidFill>
                  <a:srgbClr val="000000"/>
                </a:solidFill>
                <a:latin typeface="Times New Roman" panose="02020603050405020304"/>
              </a:rPr>
              <a:t>без DFT/OpenMX-калибровки;</a:t>
            </a:r>
            <a:endParaRPr sz="21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93408" y="3392424"/>
            <a:ext cx="201168" cy="228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•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13448" y="3392424"/>
            <a:ext cx="438912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/>
            <a:r>
              <a:rPr sz="2100" b="0">
                <a:solidFill>
                  <a:srgbClr val="000000"/>
                </a:solidFill>
                <a:latin typeface="Times New Roman" panose="02020603050405020304"/>
              </a:rPr>
              <a:t>суррогат не заменяет прямой расчёт Kwant.</a:t>
            </a:r>
            <a:endParaRPr sz="21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2280" y="4434840"/>
            <a:ext cx="4480560" cy="640080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ctr"/>
            <a:r>
              <a:rPr sz="2600" b="1">
                <a:solidFill>
                  <a:srgbClr val="002060"/>
                </a:solidFill>
                <a:latin typeface="Times New Roman" panose="02020603050405020304"/>
              </a:rPr>
              <a:t>Прямой расчёт Kwant остаётся эталоном.</a:t>
            </a:r>
            <a:endParaRPr sz="26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903720" y="5212080"/>
            <a:ext cx="4160520" cy="0"/>
          </a:xfrm>
          <a:prstGeom prst="line">
            <a:avLst/>
          </a:prstGeom>
          <a:ln w="1651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8.24,&quot;left&quot;:493.2,&quot;top&quot;:208.8,&quot;width&quot;:378}"/>
</p:tagLst>
</file>

<file path=ppt/tags/tag2.xml><?xml version="1.0" encoding="utf-8"?>
<p:tagLst xmlns:p="http://schemas.openxmlformats.org/presentationml/2006/main">
  <p:tag name="KSO_WM_DIAGRAM_VIRTUALLY_FRAME" val="{&quot;height&quot;:138.24,&quot;left&quot;:493.2,&quot;top&quot;:208.8,&quot;width&quot;:378}"/>
</p:tagLst>
</file>

<file path=ppt/tags/tag3.xml><?xml version="1.0" encoding="utf-8"?>
<p:tagLst xmlns:p="http://schemas.openxmlformats.org/presentationml/2006/main">
  <p:tag name="KSO_WM_DIAGRAM_VIRTUALLY_FRAME" val="{&quot;height&quot;:138.24,&quot;left&quot;:493.2,&quot;top&quot;:208.8,&quot;width&quot;:378}"/>
</p:tagLst>
</file>

<file path=ppt/tags/tag4.xml><?xml version="1.0" encoding="utf-8"?>
<p:tagLst xmlns:p="http://schemas.openxmlformats.org/presentationml/2006/main">
  <p:tag name="KSO_WM_DIAGRAM_VIRTUALLY_FRAME" val="{&quot;height&quot;:138.24,&quot;left&quot;:493.2,&quot;top&quot;:208.8,&quot;width&quot;:378}"/>
</p:tagLst>
</file>

<file path=ppt/tags/tag5.xml><?xml version="1.0" encoding="utf-8"?>
<p:tagLst xmlns:p="http://schemas.openxmlformats.org/presentationml/2006/main">
  <p:tag name="KSO_WM_DIAGRAM_VIRTUALLY_FRAME" val="{&quot;height&quot;:138.24,&quot;left&quot;:493.2,&quot;top&quot;:208.8,&quot;width&quot;:378}"/>
</p:tagLst>
</file>

<file path=ppt/tags/tag6.xml><?xml version="1.0" encoding="utf-8"?>
<p:tagLst xmlns:p="http://schemas.openxmlformats.org/presentationml/2006/main">
  <p:tag name="KSO_WM_DIAGRAM_VIRTUALLY_FRAME" val="{&quot;height&quot;:138.24,&quot;left&quot;:493.2,&quot;top&quot;:208.8,&quot;width&quot;:378}"/>
</p:tagLst>
</file>

<file path=ppt/tags/tag7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8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9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0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1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2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3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4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5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6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7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8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19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0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1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2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3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4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5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6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7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8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29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0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1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2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3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4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5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6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7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8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39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0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1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2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3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4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5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6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7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8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49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0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1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2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3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4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5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6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7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8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59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60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61.xml><?xml version="1.0" encoding="utf-8"?>
<p:tagLst xmlns:p="http://schemas.openxmlformats.org/presentationml/2006/main">
  <p:tag name="KSO_WM_DIAGRAM_VIRTUALLY_FRAME" val="{&quot;height&quot;:154.08,&quot;left&quot;:510.48,&quot;top&quot;:123.84,&quot;width&quot;:367.19999999999993}"/>
</p:tagLst>
</file>

<file path=ppt/tags/tag62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3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4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5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6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7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8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69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70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71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ags/tag72.xml><?xml version="1.0" encoding="utf-8"?>
<p:tagLst xmlns:p="http://schemas.openxmlformats.org/presentationml/2006/main">
  <p:tag name="KSO_WM_DIAGRAM_VIRTUALLY_FRAME" val="{&quot;height&quot;:213.11999999999998,&quot;left&quot;:51.839999999999996,&quot;top&quot;:131.04000000000002,&quot;width&quot;:469.21000000000004}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0MS45NjQyODU3MTQyODU3MSxcIndpZHRoXCI6Mjk2LjQyODU3MTQyODU3MTR9IiwKCSJMYXRleCIgOiAiSCA9XG5cXHN1bV9pIFxcdmFyZXBzaWxvbl9pIHxpXFxyYW5nbGVcXGxhbmdsZSBpfFxuK1xuXFxzdW1fe1xcbGFuZ2xlIGksalxccmFuZ2xlfVxudF97aWp9XG5cXGxlZnQoXG58aVxccmFuZ2xlXFxsYW5nbGUganwgKyB8alxccmFuZ2xlXFxsYW5nbGUgaXxcblxccmlnaHQpIiwKCSJMYXRleEltZ0Jhc2U2NCIgOiAiUEhOMlp5QjRiV3h1Y3owaWFIUjBjRG92TDNkM2R5NTNNeTV2Y21jdk1qQXdNQzl6ZG1jaUlIZHBaSFJvUFNJek9DNHdNek5sZUNJZ2FHVnBaMmgwUFNJMUxqTTNNV1Y0SWlCeWIyeGxQU0pwYldjaUlHWnZZM1Z6WVdKc1pUMGlabUZzYzJVaUlIWnBaWGRDYjNnOUlqQWdMVGsxTUNBeE5qZ3hNQzQzSURJek56UXVNU0lnZUcxc2JuTTZlR3hwYm1zOUltaDBkSEE2THk5M2QzY3Vkek11YjNKbkx6RTVPVGt2ZUd4cGJtc2lJR0Z5YVdFdGFHbGtaR1Z1UFNKMGNuVmxJaUJ6ZEhsc1pUMGlkbVZ5ZEdsallXd3RZV3hwWjI0NklDMHpMakl5TW1WNE95QnRZWGd0ZDJsa2RHZzZJRGs0SlRzaVBqeGtaV1p6UGp4d1lYUm9JR2xrUFNKTlNsZ3RNaTFVUlZndFNTMHhSRFF6UWlJZ1pEMGlUVEl5T0NBMk16ZFJNVGswSURZek55QXhPVElnTmpReFVURTVNU0EyTkRNZ01Ua3hJRFkwT1ZFeE9URWdOamN6SURJd01pQTJPREpSTWpBMElEWTRNeUF5TVRrZ05qZ3pVVEkyTUNBMk9ERWdNelUxSURZNE1WRXpPRGtnTmpneElEUXhPQ0EyT0RGVU5EWXpJRFk0TWxRME9ETWdOamd5VVRRNU9TQTJPRElnTkRrNUlEWTNNbEUwT1RrZ05qY3dJRFE1TnlBMk5UaFJORGt5SURZME1TQTBPRGNnTmpNNFNEUTROVkUwT0RNZ05qTTRJRFE0TUNBMk16aFVORGN6SURZek9GUTBOalFnTmpNM1ZEUTFOU0EyTXpkUk5ERTJJRFl6TmlBME1EVWdOak0wVkRNNE55QTJNak5STXpnMElEWXhPU0F6TlRVZ05UQXdVVE0wT0NBME56UWdNelF3SURRME1sUXpNamdnTXprMVRETXlOQ0F6T0RCUk16STBJRE0zT0NBME5qa2dNemM0U0RZeE5FdzJNVFVnTXpneFVUWXhOU0F6T0RRZ05qUTJJRFV3TkZFMk56UWdOakU1SURZM05DQTJNamRVTmpFM0lEWXpOMUUxT1RRZ05qTTNJRFU0TnlBMk16bFVOVGd3SURZME9GRTFPREFnTmpVd0lEVTRNaUEyTmpCUk5UZzJJRFkzTnlBMU9EZ2dOamM1VkRZd05DQTJPREpSTmpBNUlEWTRNaUEyTkRZZ05qZ3hWRGMwTUNBMk9EQlJPREF5SURZNE1DQTRNelVnTmpneFZEZzNNU0EyT0RKUk9EZzRJRFk0TWlBNE9EZ2dOamN5VVRnNE9DQTJORFVnT0RjMklEWXpPRWc0TnpSUk9EY3lJRFl6T0NBNE5qa2dOak00VkRnMk1pQTJNemhVT0RVeklEWXpOMVE0TkRRZ05qTTNVVGd3TlNBMk16WWdOemswSURZek5GUTNOellnTmpJelVUYzNNeUEyTVRnZ056QTBJRE0wTUZRMk16UWdOVGhSTmpNMElEVXhJRFl6T0NBMU1WRTJORFlnTkRnZ05qa3lJRFEyU0RjeU0xRTNNamtnTXpnZ056STVJRE0zVkRjeU5pQXhPVkUzTWpJZ05pQTNNVFlnTUVnM01ERlJOalkwSURJZ05UWTNJREpSTlRNeklESWdOVEEwSURKVU5EVTRJREpVTkRNM0lERlJOREl3SURFZ05ESXdJREV3VVRReU1DQXhOU0EwTWpNZ01qUlJOREk0SURReklEUXpNeUEwTlZFME16Y2dORFlnTkRRNElEUTJTRFExTkZFME9ERWdORFlnTlRFMElEUTVVVFV5TUNBMU1DQTFNaklnTlRCVU5USTRJRFUxVkRVek5DQTJORlExTkRBZ09ESlVOVFEzSURFeE1GUTFOVGdnTVRVelVUVTJOU0F4T0RFZ05UWTVJREU1T0ZFMk1ESWdNek13SURZd01pQXpNekZVTkRVM0lETXpNa2d6TVRKTU1qYzVJREU1TjFFeU5EVWdOak1nTWpRMUlEVTRVVEkwTlNBMU1TQXlOVE1nTkRsVU16QXpJRFEyU0RNek5GRXpOREFnTXpnZ016UXdJRE0zVkRNek55QXhPVkV6TXpNZ05pQXpNamNnTUVnek1USlJNamMxSURJZ01UYzRJREpSTVRRMElESWdNVEUxSURKVU5qa2dNbFEwT0NBeFVUTXhJREVnTXpFZ01UQlJNekVnTVRJZ016UWdNalJSTXprZ05ETWdORFFnTkRWUk5EZ2dORFlnTlRrZ05EWklOalZST1RJZ05EWWdNVEkxSURRNVVURXpPU0ExTWlBeE5EUWdOakZSTVRRM0lEWTFJREl4TmlBek16bFVNamcxSURZeU9GRXlPRFVnTmpNMUlESXlPQ0EyTXpkYUlpOCtQSEJoZEdnZ2FXUTlJazFLV0MweU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pMVVSVmd0VEU4dE1qSXhNU0lnWkQwaVRUWXdJRGswT0ZFMk15QTVOVEFnTmpZMUlEazFNRWd4TWpZM1RERXpNalVnT0RFMVVURXpPRFFnTmpjM0lERXpPRGdnTmpZNVNERXpORGhNTVRNME1TQTJPRE5STVRNeU1DQTNNalFnTVRJNE5TQTNOakZSTVRJek5TQTRNRGtnTVRFM05DQTRNemhVTVRBek15QTRPREZVT0RneUlEZzVPRlEyT1RrZ09UQXlTRFUzTkVnMU5ETklNalV4VERJMU9TQTRPVEZSTnpJeUlESTFPQ0EzTWpRZ01qVXlVVGN5TlNBeU5UQWdOekkwSURJME5sRTNNakVnTWpReklEUTJNQ0F0TlRaTU1UazJJQzB6TlRaUk1UazJJQzB6TlRjZ05EQTNJQzB6TlRkUk5EVTVJQzB6TlRjZ05UUTRJQzB6TlRkVU5qYzJJQzB6TlRoUk9ERXlJQzB6TlRnZ09EazJJQzB6TlROVU1UQTJNeUF0TXpNeVZERXlNRFFnTFRJNE0xUXhNekEzSUMweE9UWlJNVE15T0NBdE1UY3dJREV6TkRnZ0xURXlORWd4TXpnNFVURXpPRGdnTFRFeU5TQXhNemd4SUMweE5EVlVNVE0xTmlBdE1qRXdWREV6TWpVZ0xUSTVORXd4TWpZM0lDMDBORGxNTmpZMklDMDBOVEJSTmpRZ0xUUTFNQ0EyTVNBdE5EUTRVVFUxSUMwME5EWWdOVFVnTFRRek9WRTFOU0F0TkRNM0lEVTNJQzAwTXpOTU5Ua3dJREUzTjFFMU9UQWdNVGM0SURVMU55QXlNakpVTkRVeUlETTJObFF6TWpJZ05UUTBURFUySURrd09VdzFOU0E1TWpSUk5UVWdPVFExSURZd0lEazBPRm9pTHo0OGNHRjBhQ0JwWkQwaVRVcFlMVEl0VkVWWUxVa3RNVVEwTlRZaUlHUTlJazB4T0RRZ05qQXdVVEU0TkNBMk1qUWdNakF6SURZME1sUXlORGNnTmpZeFVUSTJOU0EyTmpFZ01qYzNJRFkwT1ZReU9UQWdOakU1VVRJNU1DQTFPVFlnTWpjd0lEVTNOMVF5TWpZZ05UVTNVVEl4TVNBMU5UY2dNVGs0SURVMk4xUXhPRFFnTmpBd1drMHlNU0F5T0RkUk1qRWdNamsxSURNd0lETXhPRlExTkNBek5qbFVPVGdnTkRJd1ZERTFPQ0EwTkRKUk1UazNJRFEwTWlBeU1qTWdOREU1VkRJMU1DQXpOVGRSTWpVd0lETTBNQ0F5TXpZZ016QXhWREU1TmlBeE9UWlVNVFUwSURnelVURTBPU0EyTVNBeE5Ea2dOVEZSTVRRNUlESTJJREUyTmlBeU5sRXhOelVnTWpZZ01UZzFJREk1VkRJd09DQTBNMVF5TXpVZ056aFVNall3SURFek4xRXlOak1nTVRRNUlESTJOU0F4TlRGVU1qZ3lJREUxTTFFek1ESWdNVFV6SURNd01pQXhORE5STXpBeUlERXpOU0F5T1RNZ01URXlWREkyT0NBMk1WUXlNak1nTVRGVU1UWXhJQzB4TVZFeE1qa2dMVEV4SURFd01pQXhNRlEzTkNBM05GRTNOQ0E1TVNBM09TQXhNRFpVTVRJeUlESXlNRkV4TmpBZ016SXhJREUyTmlBek5ERlVNVGN6SURNNE1GRXhOek1nTkRBMElERTFOaUEwTURSSU1UVTBVVEV5TkNBME1EUWdPVGtnTXpjeFZEWXhJREk0TjFFMk1DQXlPRFlnTlRrZ01qZzBWRFU0SURJNE1WUTFOaUF5TnpsVU5UTWdNamM0VkRRNUlESTNPRlEwTVNBeU56aElNamRSTWpFZ01qZzBJREl4SURJNE4xb2lMejQ4Y0dGMGFDQnBaRDBpVFVwWUxUSXRWRVZZTFVrdE1VUTNNREFpSUdROUlrMHhPVEFnTFRJeVVURXlOQ0F0TWpJZ056WWdNVEZVTWpjZ01UQTNVVEkzSURFM05DQTVOeUF5TXpKTU1UQTNJREl6T1V3NU9TQXlORGhSTnpZZ01qY3pJRGMySURNd05GRTNOaUF6TmpRZ01UUTBJRFF3T0ZReU9UQWdORFV5U0RNd01sRXpOakFnTkRVeUlEUXdOU0EwTWpGUk5ESTRJRFF3TlNBME1qZ2dNemt5VVRReU9DQXpPREVnTkRFM0lETTJPVlF6T1RFZ016VTJVVE00TWlBek5UWWdNemN4SURNMk5WUXpNemdnTXpnelZESTRNeUF6T1RKUk1qRTNJRE01TWlBeE5qY2dNelk0VkRFeE5pQXpNRGhSTVRFMklESTRPU0F4TXpNZ01qY3lVVEUwTWlBeU5qTWdNVFExSURJMk1sUXhOVGNnTWpZMFVURTRPQ0F5TnpnZ01qTTRJREkzT0VneU5ETlJNekE0SURJM09DQXpNRGdnTWpRM1VUTXdPQ0F5TURZZ01qSXpJREl3TmxFeE56Y2dNakEySURFME1pQXlNVGxNTVRNeUlESXhNbEUyT0NBeE5qa2dOamdnTVRFeVVUWTRJRE01SURJd01TQXpPVkV5TlRNZ016a2dNamcySURRNVZETXlPQ0EzTWxRek5EVWdPVFJVTXpZeUlERXdOVkV6TnpZZ01UQXpJRE0zTmlBNE9GRXpOellnTnprZ016WTFJRFl5VkRNek5DQXlObFF5TnpVZ0xUaFVNVGt3SUMweU1sb2lMejQ4Y0dGMGFDQnBaRDBpVFVwWUxUSXRWRVZZTFU0dE4wTWlJR1E5SWsweE16a2dMVEkwT1VneE16ZFJNVEkxSUMweU5Ea2dNVEU1SUMweU16VldNalV4VERFeU1DQTNNemRSTVRNd0lEYzFNQ0F4TXprZ056VXdVVEUxTWlBM05UQWdNVFU1SURjek5WWXRNak0xVVRFMU1TQXRNalE1SURFME1TQXRNalE1U0RFek9Wb2lMejQ4Y0dGMGFDQnBaRDBpVFVwWUxUSXRWRVZZTFU0dE1qZEZPU0lnWkQwaVRUVTFJRGN6TWxFMU5pQTNNemtnTmpFZ056UTBWRGMxSURjMU1GRTROU0EzTlRBZ09USWdOelF3VVRrMUlEY3pNeUF4T0RZZ05EazBWREkzT0NBeU5UQlVNVGczSURaVU9USWdMVEkwTUZFNE5TQXRNalV3SURjMUlDMHlOVEJSTmpjZ0xUSTFNQ0EyTWlBdE1qUTFWRFUxSUMweU16SlJOVFVnTFRJeU55QXhORFVnTVRGUk1qTTJJREkwT0NBeU16WWdNalV3VkRFME5TQTBPRGxSTlRVZ056STNJRFUxSURjek1sb2lMejQ4Y0dGMGFDQnBaRDBpVFVwWUxUSXRWRVZZTFU0dE1qZEZPQ0lnWkQwaVRUTXpNeUF0TWpNeVVUTXpNaUF0TWpNNUlETXlOeUF0TWpRMFZETXhNeUF0TWpVd1VUTXdNeUF0TWpVd0lESTVOaUF0TWpRd1VUSTVNeUF0TWpNeklESXdNaUEyVkRFeE1DQXlOVEJVTWpBeElEUTVORlF5T1RZZ056UXdVVEk1T1NBM05EVWdNekEySURjME9Vd3pNRGtnTnpVd1VUTXhNaUEzTlRBZ016RXpJRGMxTUZFek16RWdOelV3SURNek15QTNNekpSTXpNeklEY3lOeUF5TkRNZ05EZzVVVEUxTWlBeU5USWdNVFV5SURJMU1GUXlORE1nTVRGUk16TXpJQzB5TWpjZ016TXpJQzB5TXpKYUlpOCtQSEJoZEdnZ2FXUTlJazFLV0MweUxWUkZXQzFPTFRKQ0lpQmtQU0pOTlRZZ01qTTNWRFUySURJMU1GUTNNQ0F5TnpCSU16WTVWalF5TUV3ek56QWdOVGN3VVRNNE1DQTFPRE1nTXpnNUlEVTRNMUUwTURJZ05UZ3pJRFF3T1NBMU5qaFdNamN3U0Rjd04xRTNNaklnTWpZeUlEY3lNaUF5TlRCVU56QTNJREl6TUVnME1EbFdMVFk0VVRRd01TQXRPRElnTXpreElDMDRNa2d6T0RsSU16ZzNVVE0zTlNBdE9ESWdNelk1SUMwMk9GWXlNekJJTnpCUk5UWWdNak0zSURVMklESTFNRm9pTHo0OGNHRjBhQ0JwWkQwaVRVcFlMVEl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lMVlJGV0MxSkxURkVORFUzSWlCa1BTSk5NamszSURVNU5sRXlPVGNnTmpJM0lETXhPQ0EyTkRSVU16WXhJRFkyTVZFek56Z2dOall4SURNNE9TQTJOVEZVTkRBeklEWXlNMUUwTURNZ05UazFJRE00TkNBMU56WlVNelF3SURVMU4xRXpNaklnTlRVM0lETXhNQ0ExTmpkVU1qazNJRFU1TmxwTk1qZzRJRE0zTmxFeU9EZ2dOREExSURJMk1pQTBNRFZSTWpRd0lEUXdOU0F5TWpBZ016a3pWREU0TlNBek5qSlVNVFl4SURNeU5WUXhORFFnTWprelRERXpOeUF5TnpsUk1UTTFJREkzT0NBeE1qRWdNamM0U0RFd04xRXhNREVnTWpnMElERXdNU0F5T0RaVU1UQTFJREk1T1ZFeE1qWWdNelE0SURFMk5DQXpPVEZVTWpVeUlEUTBNVkV5TlRNZ05EUXhJREkyTUNBME5ERlVNamN5SURRME1sRXlPVFlnTkRReElETXhOaUEwTXpKUk16UXhJRFF4T0NBek5UUWdOREF4VkRNMk55QXpORGhXTXpNeVRETXhPQ0F4TXpOUk1qWTNJQzAyTnlBeU5qUWdMVGMxVVRJME5pQXRNVEkxSURFNU5DQXRNVFkwVkRjMUlDMHlNRFJSTWpVZ0xUSXdOQ0EzSUMweE9ETlVMVEV5SUMweE16ZFJMVEV5SUMweE1UQWdOeUF0T1RGVU5UTWdMVGN4VVRjd0lDMDNNU0E0TWlBdE9ERlVPVFVnTFRFeE1sRTVOU0F0TVRRNElEWXpJQzB4TmpkUk5qa2dMVEUyT0NBM055QXRNVFk0VVRFeE1TQXRNVFk0SURFek9TQXRNVFF3VkRFNE1pQXROelJNTVRreklDMHpNbEV5TURRZ01URWdNakU1SURjeVZESTFNU0F4T1RkVU1qYzRJRE13T0ZReU9Ea2dNelkxVVRJNE9TQXpOeklnTWpnNElETTNObG9pTHo0OGNHRjBhQ0JwWkQwaVRVcFlMVEl0VkVWWUxVa3RNVVEwTmpFaUlHUTlJazB5TmlBek9EVlJNVGtnTXpreUlERTVJRE01TlZFeE9TQXpPVGtnTWpJZ05ERXhWREkzSURReU5WRXlPU0EwTXpBZ016WWdORE13VkRnM0lEUXpNVWd4TkRCTU1UVTVJRFV4TVZFeE5qSWdOVEl5SURFMk5pQTFOREJVTVRjeklEVTJObFF4TnprZ05UZzJWREU0TnlBMk1ETlVNVGszSURZeE5WUXlNVEVnTmpJMFZESXlPU0EyTWpaUk1qUTNJRFl5TlNBeU5UUWdOakUxVkRJMk1TQTFPVFpSTWpZeElEVTRPU0F5TlRJZ05UUTVWREl6TWlBME56Qk1Nakl5SURRek0xRXlNaklnTkRNeElESTNNaUEwTXpGSU16SXpVVE16TUNBME1qUWdNek13SURReU1GRXpNekFnTXprNElETXhOeUF6T0RWSU1qRXdUREUzTkNBeU5EQlJNVE0xSURnd0lERXpOU0EyT0ZFeE16VWdNallnTVRZeUlESTJVVEU1TnlBeU5pQXlNekFnTmpCVU1qZ3pJREUwTkZFeU9EVWdNVFV3SURJNE9DQXhOVEZVTXpBeklERTFNMGd6TURkUk16SXlJREUxTXlBek1qSWdNVFExVVRNeU1pQXhORElnTXpFNUlERXpNMUV6TVRRZ01URTNJRE13TVNBNU5WUXlOamNnTkRoVU1qRTJJRFpVTVRVMUlDMHhNVkV4TWpVZ0xURXhJRGs0SURSVU5Ua2dOVFpSTlRjZ05qUWdOVGNnT0ROV01UQXhURGt5SURJME1WRXhNamNnTXpneUlERXlPQ0F6T0ROUk1USTRJRE00TlNBM055QXpPRFZJTWpaYUlpOCtQSEJoZEdnZ2FXUTlJazFLV0MweUxWUkZXQzFPTFRJNElpQmtQU0pOT1RRZ01qVXdVVGswSURNeE9TQXhNRFFnTXpneFZERXlOeUEwT0RoVU1UWTBJRFUzTmxReU1ESWdOalF6VkRJME5DQTJPVFZVTWpjM0lEY3lPVlF6TURJZ056VXdTRE14TlVnek1UbFJNek16SURjMU1DQXpNek1nTnpReFVUTXpNeUEzTXpnZ016RTJJRGN5TUZReU56VWdOalkzVkRJeU5pQTFPREZVTVRnMElEUTBNMVF4TmpjZ01qVXdWREU0TkNBMU9GUXlNalVnTFRneFZESTNOQ0F0TVRZM1ZETXhOaUF0TWpJd1ZETXpNeUF0TWpReFVUTXpNeUF0TWpVd0lETXhPQ0F0TWpVd1NETXhOVWd6TURKTU1qYzBJQzB5TWpaUk1UZ3dJQzB4TkRFZ01UTTNJQzB4TkZRNU5DQXlOVEJhSWk4K1BIQmhkR2dnYVdROUlrMUtXQzB5TFZSRldDMU9MVEk1SWlCa1BTSk5OakFnTnpRNVREWTBJRGMxTUZFMk9TQTNOVEFnTnpRZ056VXdTRGcyVERFeE5DQTNNalpSTWpBNElEWTBNU0F5TlRFZ05URTBWREk1TkNBeU5UQlJNamswSURFNE1pQXlPRFFnTVRFNVZESTJNU0F4TWxReU1qUWdMVGMyVkRFNE5pQXRNVFF6VkRFME5TQXRNVGswVkRFeE15QXRNakkzVkRrd0lDMHlORFpST0RjZ0xUSTBPU0E0TmlBdE1qVXdTRGMwVVRZMklDMHlOVEFnTmpNZ0xUSTFNRlExT0NBdE1qUTNWRFUxSUMweU16aFJOVFlnTFRJek55QTJOaUF0TWpJMVVUSXlNU0F0TmpRZ01qSXhJREkxTUZRMk5pQTNNalZSTlRZZ056TTNJRFUxSURjek9GRTFOU0EzTkRZZ05qQWdOelE1V2lJdlBqd3ZaR1ZtY3o0OFp5QnpkSEp2YTJVOUltTjFjbkpsYm5SRGIyeHZjaUlnWm1sc2JEMGlZM1Z5Y21WdWRFTnZiRzl5SWlCemRISnZhMlV0ZDJsa2RHZzlJakFpSUhSeVlXNXpabTl5YlQwaWMyTmhiR1VvTVN3dE1Ta2lQanhuSUdSaGRHRXRiVzFzTFc1dlpHVTlJbTFoZEdnaVBqeG5JR1JoZEdFdGJXMXNMVzV2WkdVOUltMXBJajQ4ZFhObElHUmhkR0V0WXowaU1VUTBNMElpSUhoc2FXNXJPbWh5WldZOUlpTk5TbGd0TWkxVVJWZ3RTUzB4UkRRelFpSXZQand2Wno0OFp5QmtZWFJoTFcxdGJDMXViMlJsUFNKdGJ5SWdkSEpoYm5ObWIzSnRQU0owY21GdWMyeGhkR1VvTVRFMk5TNDRMREFwSWo0OGRYTmxJR1JoZEdFdFl6MGlNMFFpSUhoc2FXNXJPbWh5WldZOUlpTk5TbGd0TWkxVVJWZ3RUaTB6UkNJdlBqd3ZaejQ4WnlCa1lYUmhMVzF0YkMxdWIyUmxQU0p0ZFc1a1pYSWlJSFJ5WVc1elptOXliVDBpZEhKaGJuTnNZWFJsS0RJeU1qRXVOaXd3S1NJK1BHY2daR0YwWVMxdGJXd3RibTlrWlQwaWJXOGlQangxYzJVZ1pHRjBZUzFqUFNJeU1qRXhJaUI0YkdsdWF6cG9jbVZtUFNJalRVcFlMVEl0VkVWWUxVeFBMVEl5TVRFaUx6NDhMMmMrUEdjZ1pHRjBZUzF0Yld3dGJtOWtaVDBpYldraUlIUnlZVzV6Wm05eWJUMGlkSEpoYm5Oc1lYUmxLRFl3TUN3dE1UQTROQzQwS1NCelkyRnNaU2d3TGpjd055a2lQangxYzJVZ1pHRjBZUzFqUFNJeFJEUTFOaUlnZUd4cGJtczZhSEpsWmowaUkwMUtXQzB5TFZSRldDMUpMVEZFTkRVMklpOCtQQzluUGp3dlp6NDhaeUJrWVhSaExXMXRiQzF1YjJSbFBTSnRjM1ZpSWlCMGNtRnVjMlp2Y20wOUluUnlZVzV6YkdGMFpTZ3pPRE15TGpJc01Da2lQanhuSUdSaGRHRXRiVzFzTFc1dlpHVTlJbTFwSWo0OGRYTmxJR1JoZEdFdFl6MGlNVVEzTURBaUlIaHNhVzVyT21oeVpXWTlJaU5OU2xndE1pMVVSVmd0U1MweFJEY3dNQ0l2UGp3dlp6NDhaeUJrWVhSaExXMXRiQzF1YjJSbFBTSnRhU0lnZEhKaGJuTm1iM0p0UFNKMGNtRnVjMnhoZEdVb05EazVMQzB4TlRBcElITmpZV3hsS0RBdU56QTNLU0krUEhWelpTQmtZWFJoTFdNOUlqRkVORFUySWlCNGJHbHVhenBvY21WbVBTSWpUVXBZTFRJdFZFVllMVWt0TVVRME5UWWlMejQ4TDJjK1BDOW5QanhuSUdSaGRHRXRiVzFzTFc1dlpHVTlJbFJsV0VGMGIyMGlJR1JoZEdFdGJXcDRMWFJsZUdOc1lYTnpQU0pQVWtRaUlIUnlZVzV6Wm05eWJUMGlkSEpoYm5Oc1lYUmxLRFEyTWpVdU1pd3dLU0krUEdjZ1pHRjBZUzF0Yld3dGJtOWtaVDBpYlc4aUlIUnlZVzV6Wm05eWJUMGlkSEpoYm5Oc1lYUmxLREFnTFRBdU5Ta2lQangxYzJVZ1pHRjBZUzFqUFNJM1F5SWdlR3hwYm1zNmFISmxaajBpSTAxS1dDMHlMVlJGV0MxT0xUZERJaTgrUEM5blBqd3ZaejQ4WnlCa1lYUmhMVzF0YkMxdWIyUmxQU0p0YVNJZ2RISmhibk5tYjNKdFBTSjBjbUZ1YzJ4aGRHVW9ORGt3TXk0eUxEQXBJajQ4ZFhObElHUmhkR0V0WXowaU1VUTBOVFlpSUhoc2FXNXJPbWh5WldZOUlpTk5TbGd0TWkxVVJWZ3RTUzB4UkRRMU5pSXZQand2Wno0OFp5QmtZWFJoTFcxdGJDMXViMlJsUFNKdGJ5SWdkSEpoYm5ObWIzSnRQU0owY21GdWMyeGhkR1VvTlRJME9DNHlMREFwSWo0OGRYTmxJR1JoZEdFdFl6MGlNamRGT1NJZ2VHeHBibXM2YUhKbFpqMGlJMDFLV0MweUxWUkZXQzFPTFRJM1JUa2lMejQ4TDJjK1BHY2daR0YwWVMxdGJXd3RibTlrWlQwaWJXOGlJSFJ5WVc1elptOXliVDBpZEhKaGJuTnNZWFJsS0RVMk16Y3VNaXd3S1NJK1BIVnpaU0JrWVhSaExXTTlJakkzUlRnaUlIaHNhVzVyT21oeVpXWTlJaU5OU2xndE1pMVVSVmd0VGkweU4wVTRJaTgrUEM5blBqeG5JR1JoZEdFdGJXMXNMVzV2WkdVOUltMXBJaUIwY21GdWMyWnZjbTA5SW5SeVlXNXpiR0YwWlNnMk1ESTJMaklzTUNraVBqeDFjMlVnWkdGMFlTMWpQU0l4UkRRMU5pSWdlR3hwYm1zNmFISmxaajBpSTAxS1dDMHlMVlJGV0MxSkxURkVORFUySWk4K1BDOW5QanhuSUdSaGRHRXRiVzFzTFc1dlpHVTlJbFJsV0VGMGIyMGlJR1JoZEdFdGJXcDRMWFJsZUdOc1lYTnpQU0pQVWtRaUlIUnlZVzV6Wm05eWJUMGlkSEpoYm5Oc1lYUmxLRFl6TnpFdU1pd3dLU0krUEdjZ1pHRjBZUzF0Yld3dGJtOWtaVDBpYlc4aUlIUnlZVzV6Wm05eWJUMGlkSEpoYm5Oc1lYUmxLREFnTFRBdU5Ta2lQangxYzJVZ1pHRjBZUzFqUFNJM1F5SWdlR3hwYm1zNmFISmxaajBpSTAxS1dDMHlMVlJGV0MxT0xUZERJaTgrUEM5blBqd3ZaejQ4WnlCa1lYUmhMVzF0YkMxdWIyUmxQU0p0YnlJZ2RISmhibk5tYjNKdFBTSjBjbUZ1YzJ4aGRHVW9OamczTVM0MExEQXBJajQ4ZFhObElHUmhkR0V0WXowaU1rSWlJSGhzYVc1ck9taHlaV1k5SWlOTlNsZ3RNaTFVUlZndFRpMHlRaUl2UGp3dlp6NDhaeUJrWVhSaExXMXRiQzF1YjJSbFBTSnRkVzVrWlhJaUlIUnlZVzV6Wm05eWJUMGlkSEpoYm5Oc1lYUmxLRGM0TnpFdU5pd3dLU0krUEdjZ1pHRjBZUzF0Yld3dGJtOWtaVDBpYlc4aVBqeDFjMlVnWkdGMFlTMWpQU0l5TWpFeElpQjRiR2x1YXpwb2NtVm1QU0lqVFVwWUxUSXRWRVZZTFV4UExUSXlNVEVpTHo0OEwyYytQR2NnWkdGMFlTMXRiV3d0Ym05a1pUMGlWR1ZZUVhSdmJTSWdkSEpoYm5ObWIzSnRQU0owY21GdWMyeGhkR1VvT0RFc0xURXhORGN1TXlrZ2MyTmhiR1VvTUM0M01EY3BJaUJrWVhSaExXMXFlQzEwWlhoamJHRnpjejBpVDFKRUlqNDhaeUJrWVhSaExXMXRiQzF1YjJSbFBTSnRieUkrUEhWelpTQmtZWFJoTFdNOUlqSTNSVGdpSUhoc2FXNXJPbWh5WldZOUlpTk5TbGd0TWkxVVJWZ3RUaTB5TjBVNElpOCtQQzluUGp4bklHUmhkR0V0Ylcxc0xXNXZaR1U5SW0xcElpQjBjbUZ1YzJadmNtMDlJblJ5WVc1emJHRjBaU2d6T0Rrc01Da2lQangxYzJVZ1pHRjBZUzFqUFNJeFJEUTFOaUlnZUd4cGJtczZhSEpsWmowaUkwMUtXQzB5TFZSRldDMUpMVEZFTkRVMklpOCtQQzluUGp4bklHUmhkR0V0Ylcxc0xXNXZaR1U5SW0xdklpQjBjbUZ1YzJadmNtMDlJblJ5WVc1emJHRjBaU2czTXpRc01Da2lQangxYzJVZ1pHRjBZUzFqUFNJeVF5SWdlR3hwYm1zNmFISmxaajBpSTAxS1dDMHlMVlJGV0MxT0xUSkRJaTgrUEM5blBqeG5JR1JoZEdFdGJXMXNMVzV2WkdVOUltMXBJaUIwY21GdWMyWnZjbTA5SW5SeVlXNXpiR0YwWlNneE1ERXlMREFwSWo0OGRYTmxJR1JoZEdFdFl6MGlNVVEwTlRjaUlIaHNhVzVyT21oeVpXWTlJaU5OU2xndE1pMVVSVmd0U1MweFJEUTFOeUl2UGp3dlp6NDhaeUJrWVhSaExXMXRiQzF1YjJSbFBTSnRieUlnZEhKaGJuTm1iM0p0UFNKMGNtRnVjMnhoZEdVb01UUXlOQ3d3S1NJK1BIVnpaU0JrWVhSaExXTTlJakkzUlRraUlIaHNhVzVyT21oeVpXWTlJaU5OU2xndE1pMVVSVmd0VGkweU4wVTVJaTgrUEM5blBqd3ZaejQ4TDJjK1BHY2daR0YwWVMxdGJXd3RibTlrWlQwaWJYTjFZaUlnZEhKaGJuTm1iM0p0UFNKMGNtRnVjMnhoZEdVb09UUTRNaTR6TERBcElqNDhaeUJrWVhSaExXMXRiQzF1YjJSbFBTSnRhU0krUEhWelpTQmtZWFJoTFdNOUlqRkVORFl4SWlCNGJHbHVhenBvY21WbVBTSWpUVXBZTFRJdFZFVllMVWt0TVVRME5qRWlMejQ4TDJjK1BHY2daR0YwWVMxdGJXd3RibTlrWlQwaVZHVllRWFJ2YlNJZ2RISmhibk5tYjNKdFBTSjBjbUZ1YzJ4aGRHVW9NemswTEMweE5UQXBJSE5qWVd4bEtEQXVOekEzS1NJZ1pHRjBZUzF0YW5ndGRHVjRZMnhoYzNNOUlrOVNSQ0krUEdjZ1pHRjBZUzF0Yld3dGJtOWtaVDBpYldraVBqeDFjMlVnWkdGMFlTMWpQU0l4UkRRMU5pSWdlR3hwYm1zNmFISmxaajBpSTAxS1dDMHlMVlJGV0MxSkxURkVORFUySWk4K1BDOW5QanhuSUdSaGRHRXRiVzFzTFc1dlpHVTlJbTFwSWlCMGNtRnVjMlp2Y20wOUluUnlZVzV6YkdGMFpTZ3pORFVzTUNraVBqeDFjMlVnWkdGMFlTMWpQU0l4UkRRMU55SWdlR3hwYm1zNmFISmxaajBpSTAxS1dDMHlMVlJGV0MxSkxURkVORFUzSWk4K1BDOW5Qand2Wno0OEwyYytQR2NnWkdGMFlTMXRiV3d0Ym05a1pUMGliWEp2ZHlJZ2RISmhibk5tYjNKdFBTSjBjbUZ1YzJ4aGRHVW9NVEEyTWpndU1pd3dLU0krUEdjZ1pHRjBZUzF0Yld3dGJtOWtaVDBpYlc4aVBqeDFjMlVnWkdGMFlTMWpQU0l5T0NJZ2VHeHBibXM2YUhKbFpqMGlJMDFLV0MweUxWUkZXQzFPTFRJNElpOCtQQzluUGp4bklHUmhkR0V0Ylcxc0xXNXZaR1U5SWxSbFdFRjBiMjBpSUdSaGRHRXRiV3A0TFhSbGVHTnNZWE56UFNKUFVrUWlJSFJ5WVc1elptOXliVDBpZEhKaGJuTnNZWFJsS0RNNE9Td3dLU0krUEdjZ1pHRjBZUzF0Yld3dGJtOWtaVDBpYlc4aUlIUnlZVzV6Wm05eWJUMGlkSEpoYm5Oc1lYUmxLREFnTFRBdU5Ta2lQangxYzJVZ1pHRjBZUzFqUFNJM1F5SWdlR3hwYm1zNmFISmxaajBpSTAxS1dDMHlMVlJGV0MxT0xUZERJaTgrUEM5blBqd3ZaejQ4WnlCa1lYUmhMVzF0YkMxdWIyUmxQU0p0YVNJZ2RISmhibk5tYjNKdFBTSjBjbUZ1YzJ4aGRHVW9OalkzTERBcElqNDhkWE5sSUdSaGRHRXRZejBpTVVRME5UWWlJSGhzYVc1ck9taHlaV1k5SWlOTlNsZ3RNaTFVUlZndFNTMHhSRFExTmlJdlBqd3ZaejQ4WnlCa1lYUmhMVzF0YkMxdWIyUmxQU0p0YnlJZ2RISmhibk5tYjNKdFBTSjBjbUZ1YzJ4aGRHVW9NVEF4TWl3d0tTSStQSFZ6WlNCa1lYUmhMV005SWpJM1JUa2lJSGhzYVc1ck9taHlaV1k5SWlOTlNsZ3RNaTFVUlZndFRpMHlOMFU1SWk4K1BDOW5QanhuSUdSaGRHRXRiVzFzTFc1dlpHVTlJbTF2SWlCMGNtRnVjMlp2Y20wOUluUnlZVzV6YkdGMFpTZ3hOREF4TERBcElqNDhkWE5sSUdSaGRHRXRZejBpTWpkRk9DSWdlR3hwYm1zNmFISmxaajBpSTAxS1dDMHlMVlJGV0MxT0xUSTNSVGdpTHo0OEwyYytQR2NnWkdGMFlTMXRiV3d0Ym05a1pUMGliV2tpSUhSeVlXNXpabTl5YlQwaWRISmhibk5zWVhSbEtERTNPVEFzTUNraVBqeDFjMlVnWkdGMFlTMWpQU0l4UkRRMU55SWdlR3hwYm1zNmFISmxaajBpSTAxS1dDMHlMVlJGV0MxSkxURkVORFUzSWk4K1BDOW5QanhuSUdSaGRHRXRiVzFzTFc1dlpHVTlJbFJsV0VGMGIyMGlJR1JoZEdFdGJXcDRMWFJsZUdOc1lYTnpQU0pQVWtRaUlIUnlZVzV6Wm05eWJUMGlkSEpoYm5Oc1lYUmxLREl5TURJc01Da2lQanhuSUdSaGRHRXRiVzFzTFc1dlpHVTlJbTF2SWlCMGNtRnVjMlp2Y20wOUluUnlZVzV6YkdGMFpTZ3dJQzB3TGpVcElqNDhkWE5sSUdSaGRHRXRZejBpTjBNaUlIaHNhVzVyT21oeVpXWTlJaU5OU2xndE1pMVVSVmd0VGkwM1F5SXZQand2Wno0OEwyYytQR2NnWkdGMFlTMXRiV3d0Ym05a1pUMGliVzhpSUhSeVlXNXpabTl5YlQwaWRISmhibk5zWVhSbEtESTNNREl1TWl3d0tTSStQSFZ6WlNCa1lYUmhMV005SWpKQ0lpQjRiR2x1YXpwb2NtVm1QU0lqVFVwWUxUSXRWRVZZTFU0dE1rSWlMejQ4TDJjK1BHY2daR0YwWVMxdGJXd3RibTlrWlQwaVZHVllRWFJ2YlNJZ1pHRjBZUzF0YW5ndGRHVjRZMnhoYzNNOUlrOVNSQ0lnZEhKaGJuTm1iM0p0UFNKMGNtRnVjMnhoZEdVb016Y3dNaTQwTERBcElqNDhaeUJrWVhSaExXMXRiQzF1YjJSbFBTSnRieUlnZEhKaGJuTm1iM0p0UFNKMGNtRnVjMnhoZEdVb01DQXRNQzQxS1NJK1BIVnpaU0JrWVhSaExXTTlJamRESWlCNGJHbHVhenBvY21WbVBTSWpUVXBZTFRJdFZFVllMVTR0TjBNaUx6NDhMMmMrUEM5blBqeG5JR1JoZEdFdGJXMXNMVzV2WkdVOUltMXBJaUIwY21GdWMyWnZjbTA5SW5SeVlXNXpiR0YwWlNnek9UZ3dMalFzTUNraVBqeDFjMlVnWkdGMFlTMWpQU0l4UkRRMU55SWdlR3hwYm1zNmFISmxaajBpSTAxS1dDMHlMVlJGV0MxSkxURkVORFUzSWk4K1BDOW5QanhuSUdSaGRHRXRiVzFzTFc1dlpHVTlJbTF2SWlCMGNtRnVjMlp2Y20wOUluUnlZVzV6YkdGMFpTZzBNemt5TGpRc01Da2lQangxYzJVZ1pHRjBZUzFqUFNJeU4wVTVJaUI0YkdsdWF6cG9jbVZtUFNJalRVcFlMVEl0VkVWWUxVNHRNamRGT1NJdlBqd3ZaejQ4WnlCa1lYUmhMVzF0YkMxdWIyUmxQU0p0YnlJZ2RISmhibk5tYjNKdFBTSjBjbUZ1YzJ4aGRHVW9ORGM0TVM0MExEQXBJajQ4ZFhObElHUmhkR0V0WXowaU1qZEZPQ0lnZUd4cGJtczZhSEpsWmowaUkwMUtXQzB5TFZSRldDMU9MVEkzUlRnaUx6NDhMMmMrUEdjZ1pHRjBZUzF0Yld3dGJtOWtaVDBpYldraUlIUnlZVzV6Wm05eWJUMGlkSEpoYm5Oc1lYUmxLRFV4TnpBdU5Dd3dLU0krUEhWelpTQmtZWFJoTFdNOUlqRkVORFUySWlCNGJHbHVhenBvY21WbVBTSWpUVXBZTFRJdFZFVllMVWt0TVVRME5UWWlMejQ4TDJjK1BHY2daR0YwWVMxdGJXd3RibTlrWlQwaVZHVllRWFJ2YlNJZ1pHRjBZUzF0YW5ndGRHVjRZMnhoYzNNOUlrOVNSQ0lnZEhKaGJuTm1iM0p0UFNKMGNtRnVjMnhoZEdVb05UVXhOUzQwTERBcElqNDhaeUJrWVhSaExXMXRiQzF1YjJSbFBTSnRieUlnZEhKaGJuTm1iM0p0UFNKMGNtRnVjMnhoZEdVb01DQXRNQzQxS1NJK1BIVnpaU0JrWVhSaExXTTlJamRESWlCNGJHbHVhenBvY21WbVBTSWpUVXBZTFRJdFZFVllMVTR0TjBNaUx6NDhMMmMrUEM5blBqeG5JR1JoZEdFdGJXMXNMVzV2WkdVOUltMXZJaUIwY21GdWMyWnZjbTA5SW5SeVlXNXpiR0YwWlNnMU56a3pMalFzTUNraVBqeDFjMlVnWkdGMFlTMWpQU0l5T1NJZ2VHeHBibXM2YUhKbFpqMGlJMDFLV0MweUxWUkZXQzFPTFRJNUlpOCtQQzluUGp3dlp6NDhMMmMrUEM5blBqd3ZjM1puUGc9PSIsCgkiUmVhbFZpZXdTaXplSnNvbiIgOiAie1wiaGVpZ2h0XCI6ODM3LFwid2lkdGhcIjo1OTI5fSIKfQo="/>
    </extobj>
    <extobj name="2384804F-3998-4D57-9195-F3826E402611-2">
      <extobjdata type="2384804F-3998-4D57-9195-F3826E402611" data="ewoJIkltZ1NldHRpbmdKc29uIiA6ICJ7XCJoZWlnaHRcIjoxNS4xNzg1NzE0Mjg1NzE0MjcsXCJ3aWR0aFwiOjEwNi4yNDk5OTk5OTk5OTk5OX0iLAoJIkxhdGV4IiA6ICJFX3tcXG1hdGhybXtraW59fSA9IEVfMCArIDQiLAoJIkxhdGV4SW1nQmFzZTY0IiA6ICJQSE4yWnlCNGJXeHVjejBpYUhSMGNEb3ZMM2QzZHk1M015NXZjbWN2TWpBd01DOXpkbWNpSUhkcFpIUm9QU0l4TXk0Mk1EaGxlQ0lnYUdWcFoyaDBQU0l4TGpreE0yVjRJaUJ5YjJ4bFBTSnBiV2NpSUdadlkzVnpZV0pzWlQwaVptRnNjMlVpSUhacFpYZENiM2c5SWpBZ0xUWTRNQ0EyTURFMExqWWdPRFExTGpZaUlIaHRiRzV6T25oc2FXNXJQU0pvZEhSd09pOHZkM2QzTG5jekxtOXlaeTh4T1RrNUwzaHNhVzVySWlCaGNtbGhMV2hwWkdSbGJqMGlkSEoxWlNJZ2MzUjViR1U5SW5abGNuUnBZMkZzTFdGc2FXZHVPaUF0TUM0ek56VmxlRHNnYldGNExYZHBaSFJvT2lBNU9DVTdJajQ4WkdWbWN6NDhjR0YwYUNCcFpEMGlUVXBZTFRJdFZFVllMVWt0TVVRME16Z2lJR1E5SWswME9USWdNakV6VVRRM01pQXlNVE1nTkRjeUlESXlObEUwTnpJZ01qTXdJRFEzTnlBeU5UQlVORGd5SURJNE5WRTBPRElnTXpFMklEUTJNU0F6TWpOVU16WTBJRE16TUVnek1USlJNekV4SURNeU9DQXlOemNnTVRreVZESTBNeUExTWxFeU5ETWdORGdnTWpVMElEUTRWRE16TkNBME5sRTBNamdnTkRZZ05EVTRJRFE0VkRVeE9DQTJNVkUxTmpjZ056Y2dOVGs1SURFeE4xUTJOekFnTWpRNFVUWTRNQ0F5TnpBZ05qZ3pJREkzTWxFMk9UQWdNamMwSURZNU9DQXlOelJSTnpFNElESTNOQ0EzTVRnZ01qWXhVVFl4TXlBM0lEWXdPQ0F5VVRZd05TQXdJRE15TWlBd1NERXpNMUV6TVNBd0lETXhJREV4VVRNeElERXpJRE0wSURJMVVUTTRJRFF4SURReUlEUXpWRFkxSURRMlVUa3lJRFEySURFeU5TQTBPVkV4TXprZ05USWdNVFEwSURZeFVURTBOaUEyTmlBeU1UVWdNelF5VkRJNE5TQTJNakpSTWpnMUlEWXlPU0F5T0RFZ05qSTVVVEkzTXlBMk16SWdNakk0SURZek5FZ3hPVGRSTVRreElEWTBNQ0F4T1RFZ05qUXlWREU1TXlBMk5UbFJNVGszSURZM05pQXlNRE1nTmpnd1NEYzFOMUUzTmpRZ05qYzJJRGMyTkNBMk5qbFJOelkwSURZMk5DQTNOVEVnTlRVM1ZEY3pOeUEwTkRkUk56TTFJRFEwTUNBM01UY2dORFF3U0Rjd05WRTJPVGdnTkRRMUlEWTVPQ0EwTlROTU56QXhJRFEzTmxFM01EUWdOVEF3SURjd05DQTFNamhSTnpBMElEVTFPQ0EyT1RjZ05UYzRWRFkzT0NBMk1EbFVOalF6SURZeU5WUTFPVFlnTmpNeVZEVXpNaUEyTXpSSU5EZzFVVE01TnlBMk16TWdNemt5SURZek1WRXpPRGdnTmpJNUlETTROaUEyTWpKUk16ZzFJRFl4T1NBek5UVWdORGs1VkRNeU5DQXpOemRSTXpRM0lETTNOaUF6TnpJZ016YzJTRE01T0ZFME5qUWdNemMySURRNE9TQXpPVEZVTlRNMElEUTNNbEUxTXpnZ05EZzRJRFUwTUNBME9UQlVOVFUzSURRNU0xRTFOaklnTkRreklEVTJOU0EwT1ROVU5UY3dJRFE1TWxRMU56SWdORGt4VkRVM05DQTBPRGRVTlRjM0lEUTRNMHcxTkRRZ016VXhVVFV4TVNBeU1UZ2dOVEE0SURJeE5sRTFNRFVnTWpFeklEUTVNaUF5TVROYUlpOCtQSEJoZEdnZ2FXUTlJazFLV0MweUxWUkZXQzFPTFRaQ0lpQmtQU0pOTXpZZ05EWklOVEJST0RrZ05EWWdPVGNnTmpCV05qaFJPVGNnTnpjZ09UY2dPVEZVT1RjZ01USTBWRGs0SURFMk4xUTVPQ0F5TVRkVU9UZ2dNamN5VkRrNElETXlPVkU1T0NBek5qWWdPVGdnTkRBM1ZEazRJRFE0TWxRNU9DQTFOREpVT1RjZ05UZzJWRGszSURZd00xRTVOQ0EyTWpJZ09ETWdOakk0VkRNNElEWXpOMGd5TUZZMk5qQlJNakFnTmpneklESXlJRFk0TTB3ek1pQTJPRFJSTkRJZ05qZzFJRFl4SURZNE5sUTVPQ0EyT0RoUk1URTFJRFk0T1NBeE16VWdOamt3VkRFMk5TQTJPVE5VTVRjMklEWTVORWd4TnpsV05EWXpUREU0TUNBeU16Tk1NalF3SURJNE4xRXpNREFnTXpReElETXdOQ0F6TkRkUk16RXdJRE0xTmlBek1UQWdNelkwVVRNeE1DQXpPRE1nTWpnNUlETTROVWd5T0RSV05ETXhTREk1TTFFek1EZ2dOREk0SURReE1pQTBNamhSTkRjMUlEUXlPQ0EwT0RRZ05ETXhTRFE0T1ZZek9EVklORGMyVVRRd055QXpPREFnTXpZd0lETTBNVkV5T0RZZ01qYzRJREk0TmlBeU56UlJNamcySURJM015QXpORGtnTVRneFZEUXlNQ0EzT1ZFME16UWdOakFnTkRVeElEVXpWRFV3TUNBME5rZzFNVEZXTUVnMU1EVlJORGsySURNZ05ERTRJRE5STXpJeUlETWdNekEzSURCSU1qazVWalEyU0RNd05sRXpNekFnTkRnZ016TXdJRFkxVVRNek1DQTNNaUF6TWpZZ056bFJNekl6SURnMElESTNOaUF4TlROVU1qSTRJREl5TWt3eE56WWdNVGMyVmpFeU1GWTRORkV4TnpZZ05qVWdNVGM0SURVNVZERTRPU0EwT1ZFeU1UQWdORFlnTWpNNElEUTJTREkxTkZZd1NESTBObEV5TXpFZ015QXhNemNnTTFReU9DQXdTREl3VmpRMlNETTJXaUl2UGp4d1lYUm9JR2xrUFNKTlNsZ3RNaTFVUlZndFRpMDJPU0lnWkQwaVRUWTVJRFl3T1ZFMk9TQTJNemNnT0RjZ05qVXpWREV6TVNBMk5qbFJNVFUwSURZMk55QXhOekVnTmpVeVZERTRPQ0EyTURsUk1UZzRJRFUzT1NBeE56RWdOVFkwVkRFeU9TQTFORGxSTVRBMElEVTBPU0E0TnlBMU5qUlVOamtnTmpBNVdrMHlORGNnTUZFeU16SWdNeUF4TkRNZ00xRXhNeklnTXlBeE1EWWdNMVExTmlBeFRETTBJREJJTWpaV05EWklOREpSTnpBZ05EWWdPVEVnTkRsUk1UQXdJRFV6SURFd01pQTJNRlF4TURRZ01UQXlWakl3TlZZeU9UTlJNVEEwSURNME5TQXhNRElnTXpVNVZEZzRJRE0zT0ZFM05DQXpPRFVnTkRFZ016ZzFTRE13VmpRd09GRXpNQ0EwTXpFZ016SWdORE14VERReUlEUXpNbEUxTWlBME16TWdOekFnTkRNMFZERXdOaUEwTXpaUk1USXpJRFF6TnlBeE5ESWdORE00VkRFM01TQTBOREZVTVRneUlEUTBNa2d4T0RWV05qSlJNVGt3SURVeUlERTVOeUExTUZReU16SWdORFpJTWpVMVZqQklNalEzV2lJdlBqeHdZWFJvSUdsa1BTSk5TbGd0TWkxVVJWZ3RUaTAyUlNJZ1pEMGlUVFF4SURRMlNEVTFVVGswSURRMklERXdNaUEyTUZZMk9GRXhNRElnTnpjZ01UQXlJRGt4VkRFd01pQXhNakpVTVRBeklERTJNVlF4TURNZ01qQXpVVEV3TXlBeU16UWdNVEF6SURJMk9WUXhNRElnTXpJNFZqTTFNVkU1T1NBek56QWdPRGdnTXpjMlZEUXpJRE00TlVneU5WWTBNRGhSTWpVZ05ETXhJREkzSURRek1Vd3pOeUEwTXpKUk5EY2dORE16SURZMUlEUXpORlF4TURJZ05ETTJVVEV4T1NBME16Y2dNVE00SURRek9GUXhOamNnTkRReFZERTNPQ0EwTkRKSU1UZ3hWalF3TWxFeE9ERWdNelkwSURFNE1pQXpOalJVTVRnM0lETTJPVlF4T1RrZ016ZzBWREl4T0NBME1ESlVNalEzSURReU1WUXlPRFVnTkRNM1VUTXdOU0EwTkRJZ016TTJJRFEwTWxFME5UQWdORE00SURRMk15QXpNamxSTkRZMElETXlNaUEwTmpRZ01Ua3dWakV3TkZFME5qUWdOallnTkRZMklEVTVWRFEzTnlBME9WRTBPVGdnTkRZZ05USTJJRFEyU0RVME1sWXdTRFV6TkV3MU1UQWdNVkUwT0RjZ01pQTBOakFnTWxRME1qSWdNMUV6TVRrZ015QXpNVEFnTUVnek1ESldORFpJTXpFNFVUTTNPU0EwTmlBek56a2dOakpSTXpnd0lEWTBJRE00TUNBeU1EQlJNemM1SURNek5TQXpOemdnTXpRelVUTTNNaUF6TnpFZ016VTRJRE00TlZRek16UWdOREF5VkRNd09DQTBNRFJSTWpZeklEUXdOQ0F5TWprZ016Y3dVVEl3TWlBek5ETWdNVGsxSURNeE5WUXhPRGNnTWpNeVZqRTJPRll4TURoUk1UZzNJRGM0SURFNE9DQTJPRlF4T1RFZ05UVlVNakF3SURRNVVUSXlNU0EwTmlBeU5Ea2dORFpJTWpZMVZqQklNalUzVERJek5DQXhVVEl4TUNBeUlERTRNeUF5VkRFME5TQXpVVFF5SURNZ016TWdNRWd5TlZZME5rZzBNVm9pTHo0OGNHRjBhQ0JwWkQwaVRVcFlMVEl0VkVWWUxVNHRNMFFpSUdROUlrMDFOaUF6TkRkUk5UWWdNell3SURjd0lETTJOMGczTURkUk56SXlJRE0xT1NBM01qSWdNelEzVVRjeU1pQXpNellnTnpBNElETXlPRXd6T1RBZ016STNTRGN5VVRVMklETXpNaUExTmlBek5EZGFUVFUySURFMU0xRTFOaUF4TmpnZ056SWdNVGN6U0Rjd09GRTNNaklnTVRZeklEY3lNaUF4TlROUk56SXlJREUwTUNBM01EY2dNVE16U0Rjd1VUVTJJREUwTUNBMU5pQXhOVE5hSWk4K1BIQmhkR2dnYVdROUlrMUtXQzB5TFZSRldDMU9MVE13SWlCa1BTSk5PVFlnTlRnMVVURTFNaUEyTmpZZ01qUTVJRFkyTmxFeU9UY2dOalkySURNME5TQTJOREJVTkRJeklEVTBPRkUwTmpBZ05EWTFJRFEyTUNBek1qQlJORFl3SURFMk5TQTBNVGNnT0ROUk16azNJRFF4SURNMk1pQXhObFF6TURFZ0xURTFWREkxTUNBdE1qSlJNakkwSUMweU1pQXhPVGdnTFRFMlZERXpOeUF4TmxRNE1pQTRNMUV6T1NBeE5qVWdNemtnTXpJd1VUTTVJRFE1TkNBNU5pQTFPRFZhVFRNeU1TQTFPVGRSTWpreElEWXlPU0F5TlRBZ05qSTVVVEl3T0NBMk1qa2dNVGM0SURVNU4xRXhOVE1nTlRjeElERTBOU0ExTWpWVU1UTTNJRE16TTFFeE16Y2dNVGMxSURFME5TQXhNalZVTVRneElEUTJVVEl3T1NBeE5pQXlOVEFnTVRaUk1qa3dJREUySURNeE9DQTBObEV6TkRjZ056WWdNelUwSURFek1GUXpOaklnTXpNelVUTTJNaUEwTnpnZ016VTBJRFV5TkZRek1qRWdOVGszV2lJdlBqeHdZWFJvSUdsa1BTSk5TbGd0TWkxVVJWZ3RUaTB5UWlJZ1pEMGlUVFUySURJek4xUTFOaUF5TlRCVU56QWdNamN3U0RNMk9WWTBNakJNTXpjd0lEVTNNRkV6T0RBZ05UZ3pJRE00T1NBMU9ETlJOREF5SURVNE15QTBNRGtnTlRZNFZqSTNNRWczTURkUk56SXlJREkyTWlBM01qSWdNalV3VkRjd055QXlNekJJTkRBNVZpMDJPRkUwTURFZ0xUZ3lJRE01TVNBdE9ESklNemc1U0RNNE4xRXpOelVnTFRneUlETTJPU0F0TmpoV01qTXdTRGN3VVRVMklESXpOeUExTmlBeU5UQmFJaTgrUEhCaGRHZ2dhV1E5SWsxS1dDMHlMVlJGV0MxT0xUTTBJaUJrUFNKTk5EWXlJREJSTkRRMElETWdNek16SUROUk1qRTNJRE1nTVRrNUlEQklNVGt3VmpRMlNESXlNVkV5TkRFZ05EWWdNalE0SURRMlZESTJOU0EwT0ZReU56a2dOVE5VTWpnMklEWXhVVEk0TnlBMk15QXlPRGNnTVRFMVZqRTJOVWd5T0ZZeU1URk1NVGM1SURRME1sRXpNeklnTmpjMElETXpOQ0EyTnpWUk16TTJJRFkzTnlBek5UVWdOamMzU0RNM00wd3pOemtnTmpjeFZqSXhNVWcwTnpGV01UWTFTRE0zT1ZZeE1UUlJNemM1SURjeklETTNPU0EyTmxRek9EVWdOVFJSTXpreklEUTNJRFEwTWlBME5rZzBOekZXTUVnME5qSmFUVEk1TXlBeU1URldOVFExVERjMElESXhNa3d4T0RNZ01qRXhTREk1TTFvaUx6NDhMMlJsWm5NK1BHY2djM1J5YjJ0bFBTSmpkWEp5Wlc1MFEyOXNiM0lpSUdacGJHdzlJbU4xY25KbGJuUkRiMnh2Y2lJZ2MzUnliMnRsTFhkcFpIUm9QU0l3SWlCMGNtRnVjMlp2Y20wOUluTmpZV3hsS0RFc0xURXBJajQ4WnlCa1lYUmhMVzF0YkMxdWIyUmxQU0p0WVhSb0lqNDhaeUJrWVhSaExXMXRiQzF1YjJSbFBTSnRjM1ZpSWo0OFp5QmtZWFJoTFcxdGJDMXViMlJsUFNKdGFTSStQSFZ6WlNCa1lYUmhMV005SWpGRU5ETTRJaUI0YkdsdWF6cG9jbVZtUFNJalRVcFlMVEl0VkVWWUxVa3RNVVEwTXpnaUx6NDhMMmMrUEdjZ1pHRjBZUzF0Yld3dGJtOWtaVDBpVkdWWVFYUnZiU0lnZEhKaGJuTm1iM0p0UFNKMGNtRnVjMnhoZEdVb056Y3hMQzB4TlRBcElITmpZV3hsS0RBdU56QTNLU0lnWkdGMFlTMXRhbmd0ZEdWNFkyeGhjM005SWs5U1JDSStQR2NnWkdGMFlTMXRiV3d0Ym05a1pUMGlWR1ZZUVhSdmJTSWdaR0YwWVMxdGFuZ3RkR1Y0WTJ4aGMzTTlJazlTUkNJK1BHY2daR0YwWVMxdGJXd3RibTlrWlQwaWJXa2lQangxYzJVZ1pHRjBZUzFqUFNJMlFpSWdlR3hwYm1zNmFISmxaajBpSTAxS1dDMHlMVlJGV0MxT0xUWkNJaTgrUEhWelpTQmtZWFJoTFdNOUlqWTVJaUI0YkdsdWF6cG9jbVZtUFNJalRVcFlMVEl0VkVWWUxVNHROamtpSUhSeVlXNXpabTl5YlQwaWRISmhibk5zWVhSbEtEVXlPQ3d3S1NJdlBqeDFjMlVnWkdGMFlTMWpQU0kyUlNJZ2VHeHBibXM2YUhKbFpqMGlJMDFLV0MweUxWUkZXQzFPTFRaRklpQjBjbUZ1YzJadmNtMDlJblJ5WVc1emJHRjBaU2c0TURZc01Da2lMejQ4TDJjK1BDOW5Qand2Wno0OEwyYytQR2NnWkdGMFlTMXRiV3d0Ym05a1pUMGliVzhpSUhSeVlXNXpabTl5YlQwaWRISmhibk5zWVhSbEtESXdOakV1T1N3d0tTSStQSFZ6WlNCa1lYUmhMV005SWpORUlpQjRiR2x1YXpwb2NtVm1QU0lqVFVwWUxUSXRWRVZZTFU0dE0wUWlMejQ4TDJjK1BHY2daR0YwWVMxdGJXd3RibTlrWlQwaWJYTjFZaUlnZEhKaGJuTm1iM0p0UFNKMGNtRnVjMnhoZEdVb016RXhOeTQyTERBcElqNDhaeUJrWVhSaExXMXRiQzF1YjJSbFBTSnRhU0krUEhWelpTQmtZWFJoTFdNOUlqRkVORE00SWlCNGJHbHVhenBvY21WbVBTSWpUVXBZTFRJdFZFVllMVWt0TVVRME16Z2lMejQ4TDJjK1BHY2daR0YwWVMxdGJXd3RibTlrWlQwaWJXNGlJSFJ5WVc1elptOXliVDBpZEhKaGJuTnNZWFJsS0RjM01Td3RNVFV3S1NCelkyRnNaU2d3TGpjd055a2lQangxYzJVZ1pHRjBZUzFqUFNJek1DSWdlR3hwYm1zNmFISmxaajBpSTAxS1dDMHlMVlJGV0MxT0xUTXdJaTgrUEM5blBqd3ZaejQ4WnlCa1lYUmhMVzF0YkMxdWIyUmxQU0p0YnlJZ2RISmhibk5tYjNKdFBTSjBjbUZ1YzJ4aGRHVW9ORFV4TkM0MExEQXBJajQ4ZFhObElHUmhkR0V0WXowaU1rSWlJSGhzYVc1ck9taHlaV1k5SWlOTlNsZ3RNaTFVUlZndFRpMHlRaUl2UGp3dlp6NDhaeUJrWVhSaExXMXRiQzF1YjJSbFBTSnRiaUlnZEhKaGJuTm1iM0p0UFNKMGNtRnVjMnhoZEdVb05UVXhOQzQyTERBcElqNDhkWE5sSUdSaGRHRXRZejBpTXpRaUlIaHNhVzVyT21oeVpXWTlJaU5OU2xndE1pMVVSVmd0VGkwek5DSXZQand2Wno0OEwyYytQQzluUGp3dmMzWm5QZz09IiwKCSJSZWFsVmlld1NpemVKc29uIiA6ICJ7XCJoZWlnaHRcIjoyOTksXCJ3aWR0aFwiOjIxMjV9Igp9Cg=="/>
    </extobj>
    <extobj name="2384804F-3998-4D57-9195-F3826E402611-4">
      <extobjdata type="2384804F-3998-4D57-9195-F3826E402611" data="ewoJIkltZ1NldHRpbmdKc29uIiA6ICJ7XCJoZWlnaHRcIjozMy45Mjg1NzE0Mjg1NzE0MixcIndpZHRoXCI6MjQxLjA3MTQyODU3MTQyODU2fSIsCgkiTGF0ZXgiIDogIlxcbGVmdHxcXGZyYWN7eH17YX1cXHJpZ2h0fF5uXG4rXG5cXGxlZnR8XFxmcmFje3l9e2J9XFxyaWdodHxeblxuXFxsZSAxLFxuXFxxcXVhZCBiID0gYSByX3tcXG1hdGhybXtBUn19IiwKCSJMYXRleEltZ0Jhc2U2NCIgOiAiUEhOMlp5QjRiV3h1Y3owaWFIUjBjRG92TDNkM2R5NTNNeTV2Y21jdk1qQXdNQzl6ZG1jaUlIZHBaSFJvUFNJek1DNDVNVGRsZUNJZ2FHVnBaMmgwUFNJMExqTTNOV1Y0SWlCeWIyeGxQU0pwYldjaUlHWnZZM1Z6WVdKc1pUMGlabUZzYzJVaUlIWnBaWGRDYjNnOUlqQWdMVEV5TXpZdU5pQXhNelkyTlM0MUlERTVNek11TmlJZ2VHMXNibk02ZUd4cGJtczlJbWgwZEhBNkx5OTNkM2N1ZHpNdWIzSm5MekU1T1RrdmVHeHBibXNpSUdGeWFXRXRhR2xrWkdWdVBTSjBjblZsSWlCemRIbHNaVDBpZG1WeWRHbGpZV3d0WVd4cFoyNDZJQzB4TGpVM04yVjRPeUJ0WVhndGQybGtkR2c2SURrNEpUc2lQanhrWldaelBqeHdZWFJvSUdsa1BTSk5TbGd0TWkxVVJWZ3RVelF0TWpJeU15SWdaRDBpVFRFek9TQXRNalE1U0RFek4xRXhNalVnTFRJME9TQXhNVGtnTFRJek5WWXlOVEZNTVRJd0lEY3pOMUV4TXpBZ056VXdJREV6T1NBM05UQlJNVFV5SURjMU1DQXhOVGtnTnpNMVZpMHlNelZSTVRVeElDMHlORGtnTVRReElDMHlORGxJTVRNNVdpSXZQanh3WVhSb0lHbGtQU0pOU2xndE1pMVVSVmd0U1MweFJEUTJOU0lnWkQwaVRUVXlJREk0T1ZFMU9TQXpNekVnTVRBMklETTRObFF5TWpJZ05EUXlVVEkxTnlBME5ESWdNamcySURReU5GUXpNamtnTXpjNVVUTTNNU0EwTkRJZ05ETXdJRFEwTWxFME5qY2dORFF5SURRNU5DQTBNakJVTlRJeUlETTJNVkUxTWpJZ016TXlJRFV3T0NBek1UUlVORGd4SURJNU1sUTBOVGdnTWpnNFVUUXpPU0F5T0RnZ05ESTNJREk1T1ZRME1UVWdNekk0VVRReE5TQXpOelFnTkRZMUlETTVNVkUwTlRRZ05EQTBJRFF5TlNBME1EUlJOREV5SURRd05DQTBNRFlnTkRBeVVUTTJPQ0F6T0RZZ016VXdJRE16TmxFeU9UQWdNVEUxSURJNU1DQTNPRkV5T1RBZ05UQWdNekEySURNNFZETTBNU0F5TmxFek56Z2dNallnTkRFMElEVTVWRFEyTXlBeE5EQlJORFkySURFMU1DQTBOamtnTVRVeFZEUTROU0F4TlROSU5EZzVVVFV3TkNBeE5UTWdOVEEwSURFME5WRTFNRFFnTVRRMElEVXdNaUF4TXpSUk5EZzJJRGMzSURRME1DQXpNMVF6TXpNZ0xURXhVVEkyTXlBdE1URWdNakkzSURVeVVURTROaUF0TVRBZ01UTXpJQzB4TUVneE1qZFJOemdnTFRFd0lEVTNJREUyVkRNMUlEY3hVVE0xSURFd015QTFOQ0F4TWpOVU9Ua2dNVFF6VVRFME1pQXhORE1nTVRReUlERXdNVkV4TkRJZ09ERWdNVE13SURZMlZERXdOeUEwTmxRNU5DQTBNVXc1TVNBME1GRTVNU0F6T1NBNU55QXpObFF4TVRNZ01qbFVNVE15SURJMlVURTJPQ0F5TmlBeE9UUWdOekZSTWpBeklEZzNJREl4TnlBeE16bFVNalExSURJME4xUXlOakVnTXpFelVUSTJOaUF6TkRBZ01qWTJJRE0xTWxFeU5qWWdNemd3SURJMU1TQXpPVEpVTWpFM0lEUXdORkV4TnpjZ05EQTBJREUwTWlBek56SlVPVE1nTWprd1VUa3hJREk0TVNBNE9DQXlPREJVTnpJZ01qYzRTRFU0VVRVeUlESTROQ0ExTWlBeU9EbGFJaTgrUEhCaGRHZ2dhV1E5SWsxS1dDMHlMVlJGV0MxSkxURkVORFJGSWlCa1BTSk5Nek1nTVRVM1VUTXpJREkxT0NBeE1Ea2dNelE1VkRJNE1DQTBOREZSTXpNeElEUTBNU0F6TnpBZ016a3lVVE00TmlBME1qSWdOREUySURReU1sRTBNamtnTkRJeUlEUXpPU0EwTVRSVU5EUTVJRE01TkZFME5Ea2dNemd4SURReE1pQXlNelJVTXpjMElEWTRVVE0zTkNBME15QXpPREVnTXpWVU5EQXlJREkyVVRReE1TQXlOeUEwTWpJZ016VlJORFF6SURVMUlEUTJNeUF4TXpGUk5EWTVJREUxTVNBME56TWdNVFV5VVRRM05TQXhOVE1nTkRneklERTFNMGcwT0RkUk5UQTJJREUxTXlBMU1EWWdNVFEwVVRVd05pQXhNemdnTlRBeElERXhOMVEwT0RFZ05qTlVORFE1SURFelVUUXpOaUF3SURReE55QXRPRkUwTURrZ0xURXdJRE01TXlBdE1UQlJNelU1SUMweE1DQXpNellnTlZRek1EWWdNelpNTXpBd0lEVXhVVEk1T1NBMU1pQXlPVFlnTlRCUk1qazBJRFE0SURJNU1pQTBObEV5TXpNZ0xURXdJREUzTWlBdE1UQlJNVEUzSUMweE1DQTNOU0F6TUZRek15QXhOVGRhVFRNMU1TQXpNamhSTXpVeElETXpOQ0F6TkRZZ016VXdWRE15TXlBek9EVlVNamMzSURRd05WRXlORElnTkRBMUlESXhNQ0F6TnpSVU1UWXdJREk1TTFFeE16RWdNakUwSURFeE9TQXhNamxSTVRFNUlERXlOaUF4TVRrZ01URTRWREV4T0NBeE1EWlJNVEU0SURZeElERXpOaUEwTkZReE56a2dNalpSTWpFM0lESTJJREkxTkNBMU9WUXlPVGdnTVRFd1VUTXdNQ0F4TVRRZ016STFJREl4TjFRek5URWdNekk0V2lJdlBqeHdZWFJvSUdsa1BTSk5TbGd0TWkxVVJWZ3RTUzB4UkRRMVFpSWdaRDBpVFRJeElESTROMUV5TWlBeU9UTWdNalFnTXpBelZETTJJRE0wTVZRMU5pQXpPRGhVT0RrZ05ESTFWREV6TlNBME5ESlJNVGN4SURRME1pQXhPVFVnTkRJMFZESXlOU0F6T1RCVU1qTXhJRE0yT1ZFeU16RWdNelkzSURJek1pQXpOamRNTWpReklETTNPRkV6TURRZ05EUXlJRE00TWlBME5ESlJORE0ySURRME1pQTBOamtnTkRFMVZEVXdNeUF6TXpaVU5EWTFJREUzT1ZRME1qY2dOVEpSTkRJM0lESTJJRFEwTkNBeU5sRTBOVEFnTWpZZ05EVXpJREkzVVRRNE1pQXpNaUExTURVZ05qVlVOVFF3SURFME5WRTFORElnTVRVeklEVTJNQ0F4TlROUk5UZ3dJREUxTXlBMU9EQWdNVFExVVRVNE1DQXhORFFnTlRjMklERXpNRkUxTmpnZ01UQXhJRFUxTkNBM00xUTFNRGdnTVRkVU5ETTVJQzB4TUZFek9USWdMVEV3SURNM01TQXhOMVF6TlRBZ056TlJNelV3SURreUlETTROaUF4T1ROVU5ESXpJRE0wTlZFME1qTWdOREEwSURNM09TQTBNRFJJTXpjMFVUSTRPQ0EwTURRZ01qSTVJRE13TTB3eU1qSWdNamt4VERFNE9TQXhOVGRSTVRVMklESTJJREUxTVNBeE5sRXhNemdnTFRFeElERXdPQ0F0TVRGUk9UVWdMVEV4SURnM0lDMDFWRGMySURkVU56UWdNVGRSTnpRZ016QWdNVEV5SURFNE1GUXhOVElnTXpRelVURTFNeUF6TkRnZ01UVXpJRE0yTmxFeE5UTWdOREExSURFeU9TQTBNRFZST1RFZ05EQTFJRFkySURNd05WRTJNQ0F5T0RVZ05qQWdNamcwVVRVNElESTNPQ0EwTVNBeU56aElNamRSTWpFZ01qZzBJREl4SURJNE4xb2lMejQ4Y0dGMGFDQnBaRDBpVFVwWUxUSXRWRVZZTFU0dE1rSWlJR1E5SWswMU5pQXlNemRVTlRZZ01qVXdWRGN3SURJM01FZ3pOamxXTkRJd1RETTNNQ0ExTnpCUk16Z3dJRFU0TXlBek9Ea2dOVGd6VVRRd01pQTFPRE1nTkRBNUlEVTJPRll5TnpCSU56QTNVVGN5TWlBeU5qSWdOekl5SURJMU1GUTNNRGNnTWpNd1NEUXdPVll0TmpoUk5EQXhJQzA0TWlBek9URWdMVGd5U0RNNE9VZ3pPRGRSTXpjMUlDMDRNaUF6TmprZ0xUWTRWakl6TUVnM01GRTFOaUF5TXpjZ05UWWdNalV3V2lJdlBqeHdZWFJvSUdsa1BTSk5TbGd0TWkxVVJWZ3RTUzB4UkRRMk5pSWdaRDBpVFRJeElESTROMUV5TVNBek1ERWdNellnTXpNMVZEZzBJRFF3TmxReE5UZ2dORFF5VVRFNU9TQTBORElnTWpJMElEUXhPVlF5TlRBZ016VTFVVEkwT0NBek16WWdNalEzSURNek5GRXlORGNnTXpNeElESXpNU0F5T0RoVU1UazRJREU1TVZReE9ESWdNVEExVVRFNE1pQTJNaUF4T1RZZ05EVlVNak00SURJM1VUSTJNU0F5TnlBeU9ERWdNemhVTXpFeUlEWXhWRE16T1NBNU5GRXpNemtnT1RVZ016UTBJREV4TkZRek5UZ2dNVGN6VkRNM055QXlORGRSTkRFMUlETTVOeUEwTVRrZ05EQTBVVFF6TWlBME16RWdORFl5SURRek1WRTBOelVnTkRNeElEUTRNeUEwTWpSVU5EazBJRFF4TWxRME9UWWdOREF6VVRRNU5pQXpPVEFnTkRRM0lERTVNMVF6T1RFZ0xUSXpVVE0yTXlBdE1UQTJJREk1TkNBdE1UVTFWREUxTmlBdE1qQTFVVEV4TVNBdE1qQTFJRGMzSUMweE9ETlVORE1nTFRFeE4xRTBNeUF0T1RVZ05UQWdMVGd3VkRZNUlDMDFPRlE0T1NBdE5EaFVNVEEySUMwME5WRXhOVEFnTFRRMUlERTFNQ0F0T0RkUk1UVXdJQzB4TURjZ01UTTRJQzB4TWpKVU1URTFJQzB4TkRKVU1UQXlJQzB4TkRkTU9Ua2dMVEUwT0ZFeE1ERWdMVEUxTXlBeE1UZ2dMVEUyTUZReE5USWdMVEUyTjBneE5qQlJNVGMzSUMweE5qY2dNVGcySUMweE5qVlJNakU1SUMweE5UWWdNalEzSUMweE1qZFVNamt3SUMwMk5WUXpNVE1nTFRsVU16SXhJREl4VERNeE5TQXhOMUV6TURrZ01UTWdNamsySURaVU1qY3dJQzAyVVRJMU1DQXRNVEVnTWpNeElDMHhNVkV4T0RVZ0xURXhJREUxTUNBeE1WUXhNRFFnT0RKUk1UQXpJRGc1SURFd015QXhNVE5STVRBeklERTNNQ0F4TXpnZ01qWXlWREUzTXlBek56bFJNVGN6SURNNE1DQXhOek1nTXpneFVURTNNeUF6T1RBZ01UY3pJRE01TTFReE5qa2dOREF3VkRFMU9DQTBNRFJJTVRVMFVURXpNU0EwTURRZ01URXlJRE00TlZRNE1pQXpORFJVTmpVZ016QXlWRFUzSURJNE1GRTFOU0F5TnpnZ05ERWdNamM0U0RJM1VUSXhJREk0TkNBeU1TQXlPRGRhSWk4K1BIQmhkR2dnYVdROUlrMUtXQzB5TFZSRldDMUpMVEZFTkRSR0lpQmtQU0pOTnpNZ05qUTNVVGN6SURZMU55QTNOeUEyTnpCVU9Ea2dOamd6VVRrd0lEWTRNeUF4TmpFZ05qZzRWREl6TkNBMk9UUlJNalEySURZNU5DQXlORFlnTmpnMVZESXhNaUExTkRKUk1qQTBJRFV3T0NBeE9UVWdORGN5VkRFNE1DQTBNVGhNTVRjMklETTVPVkV4TnpZZ016azJJREU0TWlBME1ESlJNak14SURRME1pQXlPRE1nTkRReVVUTTBOU0EwTkRJZ016Z3pJRE01TmxRME1qSWdNamd3VVRReU1pQXhOamtnTXpReklEYzVWREUzTXlBdE1URlJNVEl6SUMweE1TQTRNaUF5TjFRME1DQXhOVEJXTVRVNVVUUXdJREU0TUNBME9DQXlNVGRVT1RjZ05ERTBVVEUwTnlBMk1URWdNVFEzSURZeU0xUXhNRGtnTmpNM1VURXdOQ0EyTXpjZ01UQXhJRFl6TjBnNU5sRTROaUEyTXpjZ09ETWdOak0zVkRjMklEWTBNRlEzTXlBMk5EZGFUVE16TmlBek1qVldNek14VVRNek5pQTBNRFVnTWpjMUlEUXdOVkV5TlRnZ05EQTFJREkwTUNBek9UZFVNakEzSURNM05sUXhPREVnTXpVeVZERTJNeUF6TXpCTU1UVTNJRE15TWt3eE16WWdNak0yVVRFeE5DQXhOVEFnTVRFMElERXhORkV4TVRRZ05qWWdNVE00SURReVVURTFOQ0F5TmlBeE56Z2dNalpSTWpFeElESTJJREkwTlNBMU9GRXlOekFnT0RFZ01qZzFJREV4TkZRek1UZ2dNakU1VVRNek5pQXlPVEVnTXpNMklETXlOVm9pTHo0OGNHRjBhQ0JwWkQwaVRVcFlMVEl0VkVWWUxVNHRNakkyTkNJZ1pEMGlUVFkzTkNBMk16WlJOamd5SURZek5pQTJPRGdnTmpNd1ZEWTVOQ0EyTVRWVU5qZzNJRFl3TVZFMk9EWWdOakF3SURReE55QTBOekpNTVRVeElETTBOa3d6T1RrZ01qSTRVVFk0TnlBNU1pQTJPVEVnT0RkUk5qazBJRGd4SURZNU5DQTNObEUyT1RRZ05UZ2dOamMySURVMlNEWTNNRXd6T0RJZ01Ua3lVVGt5SURNeU9TQTVNQ0F6TXpGUk9ETWdNek0ySURneklETTBPRkU0TkNBek5Ua2dPVFlnTXpZMVVURXdOQ0F6TmprZ016Z3lJRFV3TUZRMk5qVWdOak0wVVRZMk9TQTJNellnTmpjMElEWXpObHBOT0RRZ0xURXhPRkU0TkNBdE1UQTRJRGs1SUMwNU9FZzJOemhSTmprMElDMHhNRFFnTmprMElDMHhNVGhSTmprMElDMHhNekFnTmpjNUlDMHhNemhJT1RoUk9EUWdMVEV6TVNBNE5DQXRNVEU0V2lJdlBqeHdZWFJvSUdsa1BTSk5TbGd0TWkxVVJWZ3RUaTB6TVNJZ1pEMGlUVEl4TXlBMU56aE1NakF3SURVM00xRXhPRFlnTlRZNElERTJNQ0ExTmpOVU1UQXlJRFUxTmtnNE0xWTJNREpJTVRBeVVURTBPU0EyTURRZ01UZzVJRFl4TjFReU5EVWdOalF4VkRJM015QTJOak5STWpjMUlEWTJOaUF5T0RVZ05qWTJVVEk1TkNBMk5qWWdNekF5SURZMk1GWXpOakZNTXpBeklEWXhVVE14TUNBMU5DQXpNVFVnTlRKVU16TTVJRFE0VkRRd01TQTBOa2cwTWpkV01FZzBNVFpSTXprMUlETWdNalUzSUROUk1USXhJRE1nTVRBd0lEQklPRGhXTkRaSU1URTBVVEV6TmlBME5pQXhOVElnTkRaVU1UYzNJRFEzVkRFNU15QTFNRlF5TURFZ05USlVNakEzSURVM1ZESXhNeUEyTVZZMU56aGFJaTgrUEhCaGRHZ2dhV1E5SWsxS1dDMHlMVlJGV0MxT0xUSkRJaUJrUFNKTk56Z2dNelZVTnpnZ05qQlVPVFFnTVRBelZERXpOeUF4TWpGUk1UWTFJREV5TVNBeE9EY2dPVFpVTWpFd0lEaFJNakV3SUMweU55QXlNREVnTFRZd1ZERTRNQ0F0TVRFM1ZERTFOQ0F0TVRVNFZERXpNQ0F0TVRnMVZERXhOeUF0TVRrMFVURXhNeUF0TVRrMElERXdOQ0F0TVRnMVZEazFJQzB4TnpKUk9UVWdMVEUyT0NBeE1EWWdMVEUxTmxReE16RWdMVEV5TmxReE5UY2dMVGMyVkRFM015QXRNMVk1VERFM01pQTRVVEUzTUNBM0lERTJOeUEyVkRFMk1TQXpWREUxTWlBeFZERTBNQ0F3VVRFeE15QXdJRGsySURFM1dpSXZQanh3WVhSb0lHbGtQU0pOU2xndE1pMVVSVmd0VGkwelJDSWdaRDBpVFRVMklETTBOMUUxTmlBek5qQWdOekFnTXpZM1NEY3dOMUUzTWpJZ016VTVJRGN5TWlBek5EZFJOekl5SURNek5pQTNNRGdnTXpJNFRETTVNQ0F6TWpkSU56SlJOVFlnTXpNeUlEVTJJRE0wTjFwTk5UWWdNVFV6VVRVMklERTJPQ0EzTWlBeE56TklOekE0VVRjeU1pQXhOak1nTnpJeUlERTFNMUUzTWpJZ01UUXdJRGN3TnlBeE16TklOekJSTlRZZ01UUXdJRFUySURFMU0xb2lMejQ4Y0dGMGFDQnBaRDBpVFVwWUxUSXRWRVZZTFVrdE1VUTBOVVlpSUdROUlrMHlNU0F5T0RkUk1qSWdNamt3SURJeklESTVOVlF5T0NBek1UZFVNemdnTXpRNFZEVXpJRE00TVZRM015QTBNVEZVT1RrZ05ETXpWREV6TWlBME5ESlJNVFl4SURRME1pQXhPRE1nTkRNd1ZESXhOQ0EwTURoVU1qSTFJRE00T0ZFeU1qY2dNemd5SURJeU9DQXpPREpVTWpNMklETTRPVkV5T0RRZ05EUXhJRE0wTnlBME5ERklNelV3VVRNNU9DQTBOREVnTkRJeUlEUXdNRkUwTXpBZ016Z3hJRFF6TUNBek5qTlJORE13SURNek15QTBNVGNnTXpFMVZETTVNU0F5T1RKVU16WTJJREk0T0ZFek5EWWdNamc0SURNek5DQXlPVGxVTXpJeUlETXlPRkV6TWpJZ016YzJJRE0zT0NBek9USlJNelUySURRd05TQXpORElnTkRBMVVUSTROaUEwTURVZ01qTTVJRE16TVZFeU1qa2dNekUxSURJeU5DQXlPVGhVTVRrd0lERTJOVkV4TlRZZ01qVWdNVFV4SURFMlVURXpPQ0F0TVRFZ01UQTRJQzB4TVZFNU5TQXRNVEVnT0RjZ0xUVlVOellnTjFRM05DQXhOMUUzTkNBek1DQXhNVFFnTVRnNVZERTFOQ0F6TmpaUk1UVTBJRFF3TlNBeE1qZ2dOREExVVRFd055QTBNRFVnT1RJZ016YzNWRFk0SURNeE5sUTFOeUF5T0RCUk5UVWdNamM0SURReElESTNPRWd5TjFFeU1TQXlPRFFnTWpFZ01qZzNXaUl2UGp4d1lYUm9JR2xrUFNKTlNsZ3RNaTFVUlZndFRpMDBNU0lnWkQwaVRUSTFOU0F3VVRJME1DQXpJREUwTUNBelVUUTRJRE1nTXprZ01FZ3pNbFkwTmtnME4xRXhNVGtnTkRrZ01UTTVJRGc0VVRFME1DQTVNU0F4T1RJZ01qUTFWREk1TlNBMU5UTlVNelE0SURjd09GRXpOVEVnTnpFMklETTJOaUEzTVRaSU16YzJVVE01TmlBM01UVWdOREF3SURjd09WRTBNRElnTnpBM0lEVXdPQ0F6T1RCTU5qRTNJRFkzVVRZeU5DQTFOQ0EyTXpZZ05URlVOamczSURRMlNEY3hOMVl3U0Rjd09GRTJPVGtnTXlBMU9ERWdNMUUwTlRnZ015QTBNemNnTUVnME1qZFdORFpJTkRRd1VUVXhNQ0EwTmlBMU1UQWdOalJSTlRFd0lEWTJJRFE0TmlBeE16aE1ORFl5SURJd09VZ3lNamxNTWpBNUlERTFNRkV4T0RrZ09URWdNVGc1SURnMVVURTRPU0EzTWlBeU1Ea2dOVGxVTWpVNUlEUTJTREkyTkZZd1NESTFOVnBOTkRRM0lESTFOVXd6TkRVZ05UVTNUREkwTkNBeU5UWlJNalEwSURJMU5TQXpORFVnTWpVMVNEUTBOMW9pTHo0OGNHRjBhQ0JwWkQwaVRVcFlMVEl0VkVWWUxVNHROVElpSUdROUlrMHhNekFnTmpJeVVURXlNeUEyTWprZ01URTVJRFl6TVZReE1ETWdOak0wVkRZd0lEWXpOMGd5TjFZMk9ETklNakF5U0RJek5rZ3pNREJSTXpjMklEWTRNeUEwTVRjZ05qYzNWRFV3TUNBMk5EaFJOVGsxSURZd01DQTJNRGtnTlRFM1VUWXhNQ0ExTVRJZ05qRXdJRFV3TVZFMk1UQWdORFk0SURVNU5DQTBNemxVTlRVMklETTVNbFExTVRFZ016WXhWRFEzTWlBek5ETk1ORFUySURNek9GRTBOVGtnTXpNMUlEUTJOeUF6TXpKUk5EazNJRE14TmlBMU1UWWdNams0VkRVME5TQXlOVFJVTlRVNUlESXhNVlExTmpnZ01UVTFWRFUzT0NBNU5GRTFPRGdnTkRZZ05qQXlJRE14VkRZME1DQXhOa2cyTkRWUk5qWXdJREUySURZM05DQXpNbFEyT1RJZ09EZFJOamt5SURrNElEWTVOaUF4TURGVU56RXlJREV3TlZRM01qZ2dNVEF6VkRjek1pQTVNRkUzTXpJZ05Ua2dOekUySURJM1ZEWTNNaUF0TVRaUk5qVTJJQzB5TWlBMk16QWdMVEl5VVRRNE1TQXRNVFlnTkRVNElEa3dVVFExTmlBeE1ERWdORFUySURFMk0xUTBORGtnTWpRMlVUUXpNQ0F6TURRZ016Y3pJRE15TUV3ek5qTWdNekl5VERJNU55QXpNak5JTWpNeFZqRTVNa3d5TXpJZ05qRlJNak00SURVeElESTBPU0EwT1ZRek1ERWdORFpJTXpNMFZqQklNekl6VVRNd01pQXpJREU0TVNBelVUVTVJRE1nTXpnZ01FZ3lOMVkwTmtnMk1GRXhNRElnTkRjZ01URXhJRFE1VkRFek1DQTJNVlkyTWpKYVRUUTVNU0EwT1RsV05UQTVVVFE1TVNBMU1qY2dORGt3SURVek9WUTBPREVnTlRjd1ZEUTJNaUEyTURGVU5ESTBJRFl5TTFRek5qSWdOak0yVVRNMk1DQTJNellnTXpRd0lEWXpObFF6TURRZ05qTTNTREk0TTFFeU16Z2dOak0zSURJek5DQTJNamhSTWpNeElEWXlOQ0F5TXpFZ05Ea3lWak0yTUVneU9EbFJNemt3SURNMk1DQTBNelFnTXpjNFZEUTRPU0EwTlRaUk5Ea3hJRFEyTnlBME9URWdORGs1V2lJdlBqd3ZaR1ZtY3o0OFp5QnpkSEp2YTJVOUltTjFjbkpsYm5SRGIyeHZjaUlnWm1sc2JEMGlZM1Z5Y21WdWRFTnZiRzl5SWlCemRISnZhMlV0ZDJsa2RHZzlJakFpSUhSeVlXNXpabTl5YlQwaWMyTmhiR1VvTVN3dE1Ta2lQanhuSUdSaGRHRXRiVzFzTFc1dlpHVTlJbTFoZEdnaVBqeG5JR1JoZEdFdGJXMXNMVzV2WkdVOUltMXpkWEFpUGp4bklHUmhkR0V0Ylcxc0xXNXZaR1U5SW0xeWIzY2lQanhuSUdSaGRHRXRiVzFzTFc1dlpHVTlJbTF2SWo0OGMzWm5JSGRwWkhSb1BTSXlOemdpSUdobGFXZG9kRDBpTVRnNU1pSWdlVDBpTFRZNU5pSWdlRDBpTWpjdU5TSWdkbWxsZDBKdmVEMGlNQ0F0TWpNMExqUWdNamM0SURFNE9USWlQangxYzJVZ1pHRjBZUzFqUFNJeU1qSXpJaUI0YkdsdWF6cG9jbVZtUFNJalRVcFlMVEl0VkVWWUxWTTBMVEl5TWpNaUlIUnlZVzV6Wm05eWJUMGljMk5oYkdVb01Td3lMamcwTVNraUx6NDhMM04yWno0OEwyYytQR2NnWkdGMFlTMXRiV3d0Ym05a1pUMGliV1p5WVdNaUlIUnlZVzV6Wm05eWJUMGlkSEpoYm5Oc1lYUmxLRE16TXl3d0tTSStQR2NnWkdGMFlTMXRiV3d0Ym05a1pUMGliV2tpSUhSeVlXNXpabTl5YlQwaWRISmhibk5zWVhSbEtESXlNQ3cyTnpZcElqNDhkWE5sSUdSaGRHRXRZejBpTVVRME5qVWlJSGhzYVc1ck9taHlaV1k5SWlOTlNsZ3RNaTFVUlZndFNTMHhSRFEyTlNJdlBqd3ZaejQ4WnlCa1lYUmhMVzF0YkMxdWIyUmxQU0p0YVNJZ2RISmhibk5tYjNKdFBTSjBjbUZ1YzJ4aGRHVW9NalF4TGpVc0xUWTROaWtpUGp4MWMyVWdaR0YwWVMxalBTSXhSRFEwUlNJZ2VHeHBibXM2YUhKbFpqMGlJMDFLV0MweUxWUkZXQzFKTFRGRU5EUkZJaTgrUEM5blBqeHlaV04wSUhkcFpIUm9QU0kzTnpJaUlHaGxhV2RvZEQwaU5qQWlJSGc5SWpFeU1DSWdlVDBpTWpJd0lpOCtQQzluUGp4bklHUmhkR0V0Ylcxc0xXNXZaR1U5SW0xdklpQjBjbUZ1YzJadmNtMDlJblJ5WVc1emJHRjBaU2d4TXpRMUxEQXBJajQ4YzNabklIZHBaSFJvUFNJeU56Z2lJR2hsYVdkb2REMGlNVGc1TWlJZ2VUMGlMVFk1TmlJZ2VEMGlNamN1TlNJZ2RtbGxkMEp2ZUQwaU1DQXRNak0wTGpRZ01qYzRJREU0T1RJaVBqeDFjMlVnWkdGMFlTMWpQU0l5TWpJeklpQjRiR2x1YXpwb2NtVm1QU0lqVFVwWUxUSXRWRVZZTFZNMExUSXlNak1pSUhSeVlXNXpabTl5YlQwaWMyTmhiR1VvTVN3eUxqZzBNU2tpTHo0OEwzTjJaejQ4TDJjK1BDOW5QanhuSUdSaGRHRXRiVzFzTFc1dlpHVTlJbTFwSWlCMGNtRnVjMlp2Y20wOUluUnlZVzV6YkdGMFpTZ3hOekV4TERreU15NHhLU0J6WTJGc1pTZ3dMamN3TnlraVBqeDFjMlVnWkdGMFlTMWpQU0l4UkRRMVFpSWdlR3hwYm1zNmFISmxaajBpSTAxS1dDMHlMVlJGV0MxSkxURkVORFZDSWk4K1BDOW5Qand2Wno0OFp5QmtZWFJoTFcxdGJDMXViMlJsUFNKdGJ5SWdkSEpoYm5ObWIzSnRQU0owY21GdWMyeGhkR1VvTWpRd055NDFMREFwSWo0OGRYTmxJR1JoZEdFdFl6MGlNa0lpSUhoc2FXNXJPbWh5WldZOUlpTk5TbGd0TWkxVVJWZ3RUaTB5UWlJdlBqd3ZaejQ4WnlCa1lYUmhMVzF0YkMxdWIyUmxQU0p0YzNWd0lpQjBjbUZ1YzJadmNtMDlJblJ5WVc1emJHRjBaU2d6TkRBM0xqY3NNQ2tpUGp4bklHUmhkR0V0Ylcxc0xXNXZaR1U5SW0xeWIzY2lQanhuSUdSaGRHRXRiVzFzTFc1dlpHVTlJbTF2SWo0OGMzWm5JSGRwWkhSb1BTSXlOemdpSUdobGFXZG9kRDBpTVRnNU5DSWdlVDBpTFRZNU55SWdlRDBpTWpjdU5TSWdkbWxsZDBKdmVEMGlNQ0F0TWpNMExqWWdNamM0SURFNE9UUWlQangxYzJVZ1pHRjBZUzFqUFNJeU1qSXpJaUI0YkdsdWF6cG9jbVZtUFNJalRVcFlMVEl0VkVWWUxWTTBMVEl5TWpNaUlIUnlZVzV6Wm05eWJUMGljMk5oYkdVb01Td3lMamcwTkNraUx6NDhMM04yWno0OEwyYytQR2NnWkdGMFlTMXRiV3d0Ym05a1pUMGliV1p5WVdNaUlIUnlZVzV6Wm05eWJUMGlkSEpoYm5Oc1lYUmxLRE16TXl3d0tTSStQR2NnWkdGMFlTMXRiV3d0Ym05a1pUMGliV2tpSUhSeVlXNXpabTl5YlQwaWRISmhibk5zWVhSbEtESXlNQ3cyTnpZcElqNDhkWE5sSUdSaGRHRXRZejBpTVVRME5qWWlJSGhzYVc1ck9taHlaV1k5SWlOTlNsZ3RNaTFVUlZndFNTMHhSRFEyTmlJdlBqd3ZaejQ4WnlCa1lYUmhMVzF0YkMxdWIyUmxQU0p0YVNJZ2RISmhibk5tYjNKdFBTSjBjbUZ1YzJ4aGRHVW9NalV3TGpVc0xUWTROaWtpUGp4MWMyVWdaR0YwWVMxalBTSXhSRFEwUmlJZ2VHeHBibXM2YUhKbFpqMGlJMDFLV0MweUxWUkZXQzFKTFRGRU5EUkdJaTgrUEM5blBqeHlaV04wSUhkcFpIUm9QU0kyT1RBaUlHaGxhV2RvZEQwaU5qQWlJSGc5SWpFeU1DSWdlVDBpTWpJd0lpOCtQQzluUGp4bklHUmhkR0V0Ylcxc0xXNXZaR1U5SW0xdklpQjBjbUZ1YzJadmNtMDlJblJ5WVc1emJHRjBaU2d4TWpZekxEQXBJajQ4YzNabklIZHBaSFJvUFNJeU56Z2lJR2hsYVdkb2REMGlNVGc1TkNJZ2VUMGlMVFk1TnlJZ2VEMGlNamN1TlNJZ2RtbGxkMEp2ZUQwaU1DQXRNak0wTGpZZ01qYzRJREU0T1RRaVBqeDFjMlVnWkdGMFlTMWpQU0l5TWpJeklpQjRiR2x1YXpwb2NtVm1QU0lqVFVwWUxUSXRWRVZZTFZNMExUSXlNak1pSUhSeVlXNXpabTl5YlQwaWMyTmhiR1VvTVN3eUxqZzBOQ2tpTHo0OEwzTjJaejQ4TDJjK1BDOW5QanhuSUdSaGRHRXRiVzFzTFc1dlpHVTlJbTFwSWlCMGNtRnVjMlp2Y20wOUluUnlZVzV6YkdGMFpTZ3hOakk1TERreU5DNHhLU0J6WTJGc1pTZ3dMamN3TnlraVBqeDFjMlVnWkdGMFlTMWpQU0l4UkRRMVFpSWdlR3hwYm1zNmFISmxaajBpSTAxS1dDMHlMVlJGV0MxSkxURkVORFZDSWk4K1BDOW5Qand2Wno0OFp5QmtZWFJoTFcxdGJDMXViMlJsUFNKdGJ5SWdkSEpoYm5ObWIzSnRQU0owY21GdWMyeGhkR1VvTlRjNE9DNDRMREFwSWo0OGRYTmxJR1JoZEdFdFl6MGlNakkyTkNJZ2VHeHBibXM2YUhKbFpqMGlJMDFLV0MweUxWUkZXQzFPTFRJeU5qUWlMejQ4TDJjK1BHY2daR0YwWVMxdGJXd3RibTlrWlQwaWJXNGlJSFJ5WVc1elptOXliVDBpZEhKaGJuTnNZWFJsS0RZNE5EUXVOU3d3S1NJK1BIVnpaU0JrWVhSaExXTTlJak14SWlCNGJHbHVhenBvY21WbVBTSWpUVXBZTFRJdFZFVllMVTR0TXpFaUx6NDhMMmMrUEdjZ1pHRjBZUzF0Yld3dGJtOWtaVDBpYlc4aUlIUnlZVzV6Wm05eWJUMGlkSEpoYm5Oc1lYUmxLRGN6TkRRdU5Td3dLU0krUEhWelpTQmtZWFJoTFdNOUlqSkRJaUI0YkdsdWF6cG9jbVZtUFNJalRVcFlMVEl0VkVWWUxVNHRNa01pTHo0OEwyYytQR2NnWkdGMFlTMXRiV3d0Ym05a1pUMGliWE4wZVd4bElpQjBjbUZ1YzJadmNtMDlJblJ5WVc1emJHRjBaU2czTmpJeUxqVXNNQ2tpUGp4bklHUmhkR0V0Ylcxc0xXNXZaR1U5SW0xemNHRmpaU0l2UGp3dlp6NDhaeUJrWVhSaExXMXRiQzF1YjJSbFBTSnRhU0lnZEhKaGJuTm1iM0p0UFNKMGNtRnVjMnhoZEdVb09UYzRPUzR5TERBcElqNDhkWE5sSUdSaGRHRXRZejBpTVVRME5FWWlJSGhzYVc1ck9taHlaV1k5SWlOTlNsZ3RNaTFVUlZndFNTMHhSRFEwUmlJdlBqd3ZaejQ4WnlCa1lYUmhMVzF0YkMxdWIyUmxQU0p0YnlJZ2RISmhibk5tYjNKdFBTSjBjbUZ1YzJ4aGRHVW9NVEEwT1RZc01Da2lQangxYzJVZ1pHRjBZUzFqUFNJelJDSWdlR3hwYm1zNmFISmxaajBpSTAxS1dDMHlMVlJGV0MxT0xUTkVJaTgrUEM5blBqeG5JR1JoZEdFdGJXMXNMVzV2WkdVOUltMXBJaUIwY21GdWMyWnZjbTA5SW5SeVlXNXpiR0YwWlNneE1UVTFNUzQ0TERBcElqNDhkWE5sSUdSaGRHRXRZejBpTVVRME5FVWlJSGhzYVc1ck9taHlaV1k5SWlOTlNsZ3RNaTFVUlZndFNTMHhSRFEwUlNJdlBqd3ZaejQ4WnlCa1lYUmhMVzF0YkMxdWIyUmxQU0p0YzNWaUlpQjBjbUZ1YzJadmNtMDlJblJ5WVc1emJHRjBaU2d4TWpBNE1DNDRMREFwSWo0OFp5QmtZWFJoTFcxdGJDMXViMlJsUFNKdGFTSStQSFZ6WlNCa1lYUmhMV005SWpGRU5EVkdJaUI0YkdsdWF6cG9jbVZtUFNJalRVcFlMVEl0VkVWWUxVa3RNVVEwTlVZaUx6NDhMMmMrUEdjZ1pHRjBZUzF0Yld3dGJtOWtaVDBpVkdWWVFYUnZiU0lnZEhKaGJuTm1iM0p0UFNKMGNtRnVjMnhoZEdVb05EZzBMQzB4TlRJdU55a2djMk5oYkdVb01DNDNNRGNwSWlCa1lYUmhMVzFxZUMxMFpYaGpiR0Z6Y3owaVQxSkVJajQ4WnlCa1lYUmhMVzF0YkMxdWIyUmxQU0pVWlZoQmRHOXRJaUJrWVhSaExXMXFlQzEwWlhoamJHRnpjejBpVDFKRUlqNDhaeUJrWVhSaExXMXRiQzF1YjJSbFBTSnRhU0krUEhWelpTQmtZWFJoTFdNOUlqUXhJaUI0YkdsdWF6cG9jbVZtUFNJalRVcFlMVEl0VkVWWUxVNHROREVpTHo0OGRYTmxJR1JoZEdFdFl6MGlOVElpSUhoc2FXNXJPbWh5WldZOUlpTk5TbGd0TWkxVVJWZ3RUaTAxTWlJZ2RISmhibk5tYjNKdFBTSjBjbUZ1YzJ4aGRHVW9OelV3TERBcElpOCtQQzluUGp3dlp6NDhMMmMrUEM5blBqd3ZaejQ4TDJjK1BDOXpkbWMrIiwKCSJSZWFsVmlld1NpemVKc29uIiA6ICJ7XCJoZWlnaHRcIjo2ODIsXCJ3aWR0aFwiOjQ4MjF9Igp9Cg=="/>
    </extobj>
  </extobjs>
</s:customData>
</file>

<file path=customXml/itemProps7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WPS Presentation</Application>
  <PresentationFormat>Произвольный</PresentationFormat>
  <Paragraphs>166</Paragraphs>
  <Slides>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Cambria Math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Mephistopheles Deu</cp:lastModifiedBy>
  <cp:revision>75</cp:revision>
  <dcterms:created xsi:type="dcterms:W3CDTF">2019-01-28T06:34:00Z</dcterms:created>
  <dcterms:modified xsi:type="dcterms:W3CDTF">2026-05-13T18:04:29Z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BA04941123334FD7BB47FE0775003050_12</vt:lpwstr>
  </property>
  <property fmtid="{D5CDD505-2E9C-101B-9397-08002B2CF9AE}" pid="3" name="KSOProductBuildVer">
    <vt:lpwstr>1049-12.2.0.23202</vt:lpwstr>
  </property>
</Properties>
</file>